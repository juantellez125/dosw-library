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HK Modular" charset="1" panose="00000800000000000000"/>
      <p:regular r:id="rId43"/>
    </p:embeddedFont>
    <p:embeddedFont>
      <p:font typeface="RQND Pro" charset="1" panose="00000500000000000000"/>
      <p:regular r:id="rId44"/>
    </p:embeddedFont>
    <p:embeddedFont>
      <p:font typeface="Poppins" charset="1" panose="00000500000000000000"/>
      <p:regular r:id="rId45"/>
    </p:embeddedFont>
    <p:embeddedFont>
      <p:font typeface="Open Sans" charset="1" panose="020B06060305040202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6.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26.png" Type="http://schemas.openxmlformats.org/officeDocument/2006/relationships/image"/><Relationship Id="rId7"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26.png" Type="http://schemas.openxmlformats.org/officeDocument/2006/relationships/image"/><Relationship Id="rId8"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9.png" Type="http://schemas.openxmlformats.org/officeDocument/2006/relationships/image"/><Relationship Id="rId4"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0.png" Type="http://schemas.openxmlformats.org/officeDocument/2006/relationships/image"/><Relationship Id="rId4"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1.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1.png" Type="http://schemas.openxmlformats.org/officeDocument/2006/relationships/image"/><Relationship Id="rId6"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4.png" Type="http://schemas.openxmlformats.org/officeDocument/2006/relationships/image"/><Relationship Id="rId4"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8.png" Type="http://schemas.openxmlformats.org/officeDocument/2006/relationships/image"/><Relationship Id="rId4" Target="../media/image46.pn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 Id="rId6"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6.png" Type="http://schemas.openxmlformats.org/officeDocument/2006/relationships/image"/><Relationship Id="rId4"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7.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8" id="8"/>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SEMANA 6</a:t>
            </a:r>
          </a:p>
        </p:txBody>
      </p:sp>
      <p:sp>
        <p:nvSpPr>
          <p:cNvPr name="TextBox 9" id="9"/>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957F3B"/>
                </a:solidFill>
                <a:latin typeface="HK Modular"/>
                <a:ea typeface="HK Modular"/>
                <a:cs typeface="HK Modular"/>
                <a:sym typeface="HK Modular"/>
              </a:rPr>
              <a:t>DOSW 2</a:t>
            </a:r>
          </a:p>
        </p:txBody>
      </p:sp>
      <p:sp>
        <p:nvSpPr>
          <p:cNvPr name="TextBox 10" id="10"/>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1" id="11"/>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2" id="12"/>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PROYECTO INICIAL</a:t>
            </a:r>
          </a:p>
        </p:txBody>
      </p:sp>
      <p:sp>
        <p:nvSpPr>
          <p:cNvPr name="Freeform 13" id="13"/>
          <p:cNvSpPr/>
          <p:nvPr/>
        </p:nvSpPr>
        <p:spPr>
          <a:xfrm flipH="false" flipV="false" rot="0">
            <a:off x="7575020" y="0"/>
            <a:ext cx="3528962" cy="3528962"/>
          </a:xfrm>
          <a:custGeom>
            <a:avLst/>
            <a:gdLst/>
            <a:ahLst/>
            <a:cxnLst/>
            <a:rect r="r" b="b" t="t" l="l"/>
            <a:pathLst>
              <a:path h="3528962" w="3528962">
                <a:moveTo>
                  <a:pt x="0" y="0"/>
                </a:moveTo>
                <a:lnTo>
                  <a:pt x="3528962" y="0"/>
                </a:lnTo>
                <a:lnTo>
                  <a:pt x="3528962" y="3528962"/>
                </a:lnTo>
                <a:lnTo>
                  <a:pt x="0" y="3528962"/>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486784" y="1619126"/>
            <a:ext cx="11963395" cy="1021514"/>
          </a:xfrm>
          <a:prstGeom prst="rect">
            <a:avLst/>
          </a:prstGeom>
        </p:spPr>
        <p:txBody>
          <a:bodyPr anchor="t" rtlCol="false" tIns="0" lIns="0" bIns="0" rIns="0">
            <a:spAutoFit/>
          </a:bodyPr>
          <a:lstStyle/>
          <a:p>
            <a:pPr algn="ctr">
              <a:lnSpc>
                <a:spcPts val="8255"/>
              </a:lnSpc>
              <a:spcBef>
                <a:spcPct val="0"/>
              </a:spcBef>
            </a:pPr>
            <a:r>
              <a:rPr lang="en-US" sz="5896">
                <a:solidFill>
                  <a:srgbClr val="957F3B"/>
                </a:solidFill>
                <a:latin typeface="HK Modular"/>
                <a:ea typeface="HK Modular"/>
                <a:cs typeface="HK Modular"/>
                <a:sym typeface="HK Modular"/>
              </a:rPr>
              <a:t>ENUNCIADO Y EQUIPOS</a:t>
            </a:r>
          </a:p>
        </p:txBody>
      </p:sp>
      <p:sp>
        <p:nvSpPr>
          <p:cNvPr name="Freeform 10" id="10"/>
          <p:cNvSpPr/>
          <p:nvPr/>
        </p:nvSpPr>
        <p:spPr>
          <a:xfrm flipH="false" flipV="false" rot="0">
            <a:off x="3514606"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893855" y="7163045"/>
            <a:ext cx="807749" cy="1846284"/>
          </a:xfrm>
          <a:custGeom>
            <a:avLst/>
            <a:gdLst/>
            <a:ahLst/>
            <a:cxnLst/>
            <a:rect r="r" b="b" t="t" l="l"/>
            <a:pathLst>
              <a:path h="1846284" w="807749">
                <a:moveTo>
                  <a:pt x="0" y="0"/>
                </a:moveTo>
                <a:lnTo>
                  <a:pt x="807750" y="0"/>
                </a:lnTo>
                <a:lnTo>
                  <a:pt x="807750"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6273105"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7652354"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9034000"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9253367" y="8129977"/>
            <a:ext cx="815517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5 EQUIPOS DE 5 PERSONAS</a:t>
            </a:r>
          </a:p>
        </p:txBody>
      </p:sp>
      <p:sp>
        <p:nvSpPr>
          <p:cNvPr name="TextBox 16" id="16"/>
          <p:cNvSpPr txBox="true"/>
          <p:nvPr/>
        </p:nvSpPr>
        <p:spPr>
          <a:xfrm rot="0">
            <a:off x="9874182" y="7234913"/>
            <a:ext cx="6913546" cy="585442"/>
          </a:xfrm>
          <a:prstGeom prst="rect">
            <a:avLst/>
          </a:prstGeom>
        </p:spPr>
        <p:txBody>
          <a:bodyPr anchor="t" rtlCol="false" tIns="0" lIns="0" bIns="0" rIns="0">
            <a:spAutoFit/>
          </a:bodyPr>
          <a:lstStyle/>
          <a:p>
            <a:pPr algn="ctr">
              <a:lnSpc>
                <a:spcPts val="4770"/>
              </a:lnSpc>
              <a:spcBef>
                <a:spcPct val="0"/>
              </a:spcBef>
            </a:pPr>
            <a:r>
              <a:rPr lang="en-US" sz="3407">
                <a:solidFill>
                  <a:srgbClr val="957F3B"/>
                </a:solidFill>
                <a:latin typeface="HK Modular"/>
                <a:ea typeface="HK Modular"/>
                <a:cs typeface="HK Modular"/>
                <a:sym typeface="HK Modular"/>
              </a:rPr>
              <a:t>SQUADS</a:t>
            </a:r>
          </a:p>
        </p:txBody>
      </p:sp>
      <p:sp>
        <p:nvSpPr>
          <p:cNvPr name="Freeform 17" id="17"/>
          <p:cNvSpPr/>
          <p:nvPr/>
        </p:nvSpPr>
        <p:spPr>
          <a:xfrm flipH="false" flipV="false" rot="0">
            <a:off x="7957293" y="2966253"/>
            <a:ext cx="3022376" cy="2138331"/>
          </a:xfrm>
          <a:custGeom>
            <a:avLst/>
            <a:gdLst/>
            <a:ahLst/>
            <a:cxnLst/>
            <a:rect r="r" b="b" t="t" l="l"/>
            <a:pathLst>
              <a:path h="2138331" w="3022376">
                <a:moveTo>
                  <a:pt x="0" y="0"/>
                </a:moveTo>
                <a:lnTo>
                  <a:pt x="3022377" y="0"/>
                </a:lnTo>
                <a:lnTo>
                  <a:pt x="3022377" y="2138332"/>
                </a:lnTo>
                <a:lnTo>
                  <a:pt x="0" y="2138332"/>
                </a:lnTo>
                <a:lnTo>
                  <a:pt x="0" y="0"/>
                </a:lnTo>
                <a:close/>
              </a:path>
            </a:pathLst>
          </a:custGeom>
          <a:blipFill>
            <a:blip r:embed="rId5"/>
            <a:stretch>
              <a:fillRect l="0" t="0" r="0" b="0"/>
            </a:stretch>
          </a:blipFill>
        </p:spPr>
      </p:sp>
      <p:sp>
        <p:nvSpPr>
          <p:cNvPr name="TextBox 18" id="18"/>
          <p:cNvSpPr txBox="true"/>
          <p:nvPr/>
        </p:nvSpPr>
        <p:spPr>
          <a:xfrm rot="0">
            <a:off x="6215539" y="5809435"/>
            <a:ext cx="6913546" cy="585442"/>
          </a:xfrm>
          <a:prstGeom prst="rect">
            <a:avLst/>
          </a:prstGeom>
        </p:spPr>
        <p:txBody>
          <a:bodyPr anchor="t" rtlCol="false" tIns="0" lIns="0" bIns="0" rIns="0">
            <a:spAutoFit/>
          </a:bodyPr>
          <a:lstStyle/>
          <a:p>
            <a:pPr algn="ctr">
              <a:lnSpc>
                <a:spcPts val="4770"/>
              </a:lnSpc>
              <a:spcBef>
                <a:spcPct val="0"/>
              </a:spcBef>
            </a:pPr>
            <a:r>
              <a:rPr lang="en-US" sz="3407">
                <a:solidFill>
                  <a:srgbClr val="78A5E0"/>
                </a:solidFill>
                <a:latin typeface="HK Modular"/>
                <a:ea typeface="HK Modular"/>
                <a:cs typeface="HK Modular"/>
                <a:sym typeface="HK Modular"/>
              </a:rPr>
              <a:t>TEMATICA DE EQUIPOS</a:t>
            </a:r>
          </a:p>
        </p:txBody>
      </p:sp>
      <p:sp>
        <p:nvSpPr>
          <p:cNvPr name="Freeform 19" id="19"/>
          <p:cNvSpPr/>
          <p:nvPr/>
        </p:nvSpPr>
        <p:spPr>
          <a:xfrm flipH="false" flipV="false" rot="0">
            <a:off x="8623666" y="-372819"/>
            <a:ext cx="2097292" cy="2097292"/>
          </a:xfrm>
          <a:custGeom>
            <a:avLst/>
            <a:gdLst/>
            <a:ahLst/>
            <a:cxnLst/>
            <a:rect r="r" b="b" t="t" l="l"/>
            <a:pathLst>
              <a:path h="2097292" w="2097292">
                <a:moveTo>
                  <a:pt x="0" y="0"/>
                </a:moveTo>
                <a:lnTo>
                  <a:pt x="2097292" y="0"/>
                </a:lnTo>
                <a:lnTo>
                  <a:pt x="2097292" y="2097292"/>
                </a:lnTo>
                <a:lnTo>
                  <a:pt x="0" y="2097292"/>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PRUEBAS</a:t>
            </a:r>
          </a:p>
        </p:txBody>
      </p:sp>
      <p:sp>
        <p:nvSpPr>
          <p:cNvPr name="Freeform 13" id="13"/>
          <p:cNvSpPr/>
          <p:nvPr/>
        </p:nvSpPr>
        <p:spPr>
          <a:xfrm flipH="false" flipV="false" rot="0">
            <a:off x="7575020" y="0"/>
            <a:ext cx="3528962" cy="3528962"/>
          </a:xfrm>
          <a:custGeom>
            <a:avLst/>
            <a:gdLst/>
            <a:ahLst/>
            <a:cxnLst/>
            <a:rect r="r" b="b" t="t" l="l"/>
            <a:pathLst>
              <a:path h="3528962" w="3528962">
                <a:moveTo>
                  <a:pt x="0" y="0"/>
                </a:moveTo>
                <a:lnTo>
                  <a:pt x="3528962" y="0"/>
                </a:lnTo>
                <a:lnTo>
                  <a:pt x="3528962" y="3528962"/>
                </a:lnTo>
                <a:lnTo>
                  <a:pt x="0" y="3528962"/>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80284" y="8532551"/>
            <a:ext cx="1586363" cy="1358323"/>
          </a:xfrm>
          <a:custGeom>
            <a:avLst/>
            <a:gdLst/>
            <a:ahLst/>
            <a:cxnLst/>
            <a:rect r="r" b="b" t="t" l="l"/>
            <a:pathLst>
              <a:path h="1358323" w="1586363">
                <a:moveTo>
                  <a:pt x="0" y="0"/>
                </a:moveTo>
                <a:lnTo>
                  <a:pt x="1586364" y="0"/>
                </a:lnTo>
                <a:lnTo>
                  <a:pt x="1586364" y="1358324"/>
                </a:lnTo>
                <a:lnTo>
                  <a:pt x="0" y="13583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PRUEBAS DE SOFTWARE</a:t>
            </a:r>
          </a:p>
        </p:txBody>
      </p:sp>
      <p:sp>
        <p:nvSpPr>
          <p:cNvPr name="TextBox 8" id="8"/>
          <p:cNvSpPr txBox="true"/>
          <p:nvPr/>
        </p:nvSpPr>
        <p:spPr>
          <a:xfrm rot="0">
            <a:off x="4390437" y="7657362"/>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SON IMPORTANTES PORQUE</a:t>
            </a:r>
          </a:p>
        </p:txBody>
      </p:sp>
      <p:sp>
        <p:nvSpPr>
          <p:cNvPr name="TextBox 9" id="9"/>
          <p:cNvSpPr txBox="true"/>
          <p:nvPr/>
        </p:nvSpPr>
        <p:spPr>
          <a:xfrm rot="0">
            <a:off x="2850208" y="3266276"/>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el proceso de evaluar y verificar que un producto o aplicacion de software hace lo que se supone que debe hacer.</a:t>
            </a:r>
          </a:p>
        </p:txBody>
      </p:sp>
      <p:sp>
        <p:nvSpPr>
          <p:cNvPr name="TextBox 10" id="10"/>
          <p:cNvSpPr txBox="true"/>
          <p:nvPr/>
        </p:nvSpPr>
        <p:spPr>
          <a:xfrm rot="0">
            <a:off x="2850208" y="446706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Unas buenas pruebas de software permiten la prevencion de errores (pero no al 100%) y la mejora del rendimiento</a:t>
            </a:r>
          </a:p>
        </p:txBody>
      </p:sp>
      <p:sp>
        <p:nvSpPr>
          <p:cNvPr name="TextBox 11" id="11"/>
          <p:cNvSpPr txBox="true"/>
          <p:nvPr/>
        </p:nvSpPr>
        <p:spPr>
          <a:xfrm rot="0">
            <a:off x="3266648" y="8492258"/>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Permiten identificar defectos en la arquitectura, identificar decisiones de diseño poco acertadas, funcionalidades no validas o incorrectas, vulnerabilidades y problemas en las aplicaciones</a:t>
            </a:r>
          </a:p>
        </p:txBody>
      </p:sp>
      <p:sp>
        <p:nvSpPr>
          <p:cNvPr name="TextBox 12" id="12"/>
          <p:cNvSpPr txBox="true"/>
          <p:nvPr/>
        </p:nvSpPr>
        <p:spPr>
          <a:xfrm rot="0">
            <a:off x="2964154" y="5665948"/>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mas efectivas cuando se realizan de forma continua, lo que indica que se inician durante el diseño, continuan durante la construccion e incluso cuando el software ya esta en produccion</a:t>
            </a:r>
          </a:p>
        </p:txBody>
      </p:sp>
      <p:sp>
        <p:nvSpPr>
          <p:cNvPr name="Freeform 13" id="13"/>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¿QUE ES UNA VULNERABILIDAD?</a:t>
            </a:r>
          </a:p>
        </p:txBody>
      </p:sp>
      <p:sp>
        <p:nvSpPr>
          <p:cNvPr name="Freeform 7" id="7"/>
          <p:cNvSpPr/>
          <p:nvPr/>
        </p:nvSpPr>
        <p:spPr>
          <a:xfrm flipH="false" flipV="false" rot="0">
            <a:off x="879195" y="3549867"/>
            <a:ext cx="6175831" cy="6175831"/>
          </a:xfrm>
          <a:custGeom>
            <a:avLst/>
            <a:gdLst/>
            <a:ahLst/>
            <a:cxnLst/>
            <a:rect r="r" b="b" t="t" l="l"/>
            <a:pathLst>
              <a:path h="6175831" w="6175831">
                <a:moveTo>
                  <a:pt x="0" y="0"/>
                </a:moveTo>
                <a:lnTo>
                  <a:pt x="6175831" y="0"/>
                </a:lnTo>
                <a:lnTo>
                  <a:pt x="6175831" y="6175831"/>
                </a:lnTo>
                <a:lnTo>
                  <a:pt x="0" y="6175831"/>
                </a:lnTo>
                <a:lnTo>
                  <a:pt x="0" y="0"/>
                </a:lnTo>
                <a:close/>
              </a:path>
            </a:pathLst>
          </a:custGeom>
          <a:blipFill>
            <a:blip r:embed="rId3"/>
            <a:stretch>
              <a:fillRect l="0" t="0" r="0" b="0"/>
            </a:stretch>
          </a:blipFill>
        </p:spPr>
      </p:sp>
      <p:sp>
        <p:nvSpPr>
          <p:cNvPr name="Freeform 8" id="8"/>
          <p:cNvSpPr/>
          <p:nvPr/>
        </p:nvSpPr>
        <p:spPr>
          <a:xfrm flipH="false" flipV="false" rot="0">
            <a:off x="8582277" y="6843023"/>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521751" y="4380977"/>
            <a:ext cx="10423592" cy="769190"/>
          </a:xfrm>
          <a:prstGeom prst="rect">
            <a:avLst/>
          </a:prstGeom>
        </p:spPr>
        <p:txBody>
          <a:bodyPr anchor="t" rtlCol="false" tIns="0" lIns="0" bIns="0" rIns="0">
            <a:spAutoFit/>
          </a:bodyPr>
          <a:lstStyle/>
          <a:p>
            <a:pPr algn="ctr">
              <a:lnSpc>
                <a:spcPts val="3014"/>
              </a:lnSpc>
              <a:spcBef>
                <a:spcPct val="0"/>
              </a:spcBef>
            </a:pPr>
            <a:r>
              <a:rPr lang="en-US" sz="2153">
                <a:solidFill>
                  <a:srgbClr val="FFFFFF"/>
                </a:solidFill>
                <a:latin typeface="Poppins"/>
                <a:ea typeface="Poppins"/>
                <a:cs typeface="Poppins"/>
                <a:sym typeface="Poppins"/>
              </a:rPr>
              <a:t>Es una debilidad existente en un sistema que puede ser utilizada por un actor malintencionado para comprometer su seguridad</a:t>
            </a:r>
          </a:p>
        </p:txBody>
      </p:sp>
      <p:sp>
        <p:nvSpPr>
          <p:cNvPr name="TextBox 10" id="10"/>
          <p:cNvSpPr txBox="true"/>
          <p:nvPr/>
        </p:nvSpPr>
        <p:spPr>
          <a:xfrm rot="0">
            <a:off x="7648323" y="5820040"/>
            <a:ext cx="10170449" cy="742604"/>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Pueden ser de varios tipos, desde hardware hasta software, una vulnerabilidad puede ser:</a:t>
            </a:r>
          </a:p>
        </p:txBody>
      </p:sp>
      <p:sp>
        <p:nvSpPr>
          <p:cNvPr name="TextBox 11" id="11"/>
          <p:cNvSpPr txBox="true"/>
          <p:nvPr/>
        </p:nvSpPr>
        <p:spPr>
          <a:xfrm rot="0">
            <a:off x="7774894" y="6908710"/>
            <a:ext cx="10170449" cy="373198"/>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Un servicio corriendo en un determinado puerto logico</a:t>
            </a:r>
          </a:p>
        </p:txBody>
      </p:sp>
      <p:sp>
        <p:nvSpPr>
          <p:cNvPr name="TextBox 12" id="12"/>
          <p:cNvSpPr txBox="true"/>
          <p:nvPr/>
        </p:nvSpPr>
        <p:spPr>
          <a:xfrm rot="0">
            <a:off x="7830057" y="7447812"/>
            <a:ext cx="10170449" cy="742604"/>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Sistemas y aplicaciones no actualizados o parcheados que presentan multiples problemas</a:t>
            </a:r>
          </a:p>
        </p:txBody>
      </p:sp>
      <p:sp>
        <p:nvSpPr>
          <p:cNvPr name="TextBox 13" id="13"/>
          <p:cNvSpPr txBox="true"/>
          <p:nvPr/>
        </p:nvSpPr>
        <p:spPr>
          <a:xfrm rot="0">
            <a:off x="7830057" y="8352340"/>
            <a:ext cx="10170449" cy="373198"/>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Una red wifi abierta</a:t>
            </a:r>
          </a:p>
        </p:txBody>
      </p:sp>
      <p:sp>
        <p:nvSpPr>
          <p:cNvPr name="TextBox 14" id="14"/>
          <p:cNvSpPr txBox="true"/>
          <p:nvPr/>
        </p:nvSpPr>
        <p:spPr>
          <a:xfrm rot="0">
            <a:off x="7830057" y="8791749"/>
            <a:ext cx="10170449" cy="373198"/>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La no aplicacion de una politica de gestion de contraseñas</a:t>
            </a:r>
          </a:p>
        </p:txBody>
      </p:sp>
      <p:sp>
        <p:nvSpPr>
          <p:cNvPr name="Freeform 15" id="15"/>
          <p:cNvSpPr/>
          <p:nvPr/>
        </p:nvSpPr>
        <p:spPr>
          <a:xfrm flipH="false" flipV="false" rot="0">
            <a:off x="7549195" y="7400342"/>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871990" y="8238040"/>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8301416" y="8725538"/>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30688" y="462028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TIPOS DE PRUEBAS</a:t>
            </a:r>
          </a:p>
        </p:txBody>
      </p:sp>
      <p:sp>
        <p:nvSpPr>
          <p:cNvPr name="Freeform 13" id="13"/>
          <p:cNvSpPr/>
          <p:nvPr/>
        </p:nvSpPr>
        <p:spPr>
          <a:xfrm flipH="false" flipV="false" rot="0">
            <a:off x="7575020" y="0"/>
            <a:ext cx="3528962" cy="3528962"/>
          </a:xfrm>
          <a:custGeom>
            <a:avLst/>
            <a:gdLst/>
            <a:ahLst/>
            <a:cxnLst/>
            <a:rect r="r" b="b" t="t" l="l"/>
            <a:pathLst>
              <a:path h="3528962" w="3528962">
                <a:moveTo>
                  <a:pt x="0" y="0"/>
                </a:moveTo>
                <a:lnTo>
                  <a:pt x="3528962" y="0"/>
                </a:lnTo>
                <a:lnTo>
                  <a:pt x="3528962" y="3528962"/>
                </a:lnTo>
                <a:lnTo>
                  <a:pt x="0" y="3528962"/>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41751" y="2191796"/>
            <a:ext cx="1785160" cy="1791880"/>
          </a:xfrm>
          <a:custGeom>
            <a:avLst/>
            <a:gdLst/>
            <a:ahLst/>
            <a:cxnLst/>
            <a:rect r="r" b="b" t="t" l="l"/>
            <a:pathLst>
              <a:path h="1791880" w="1785160">
                <a:moveTo>
                  <a:pt x="0" y="0"/>
                </a:moveTo>
                <a:lnTo>
                  <a:pt x="1785160" y="0"/>
                </a:lnTo>
                <a:lnTo>
                  <a:pt x="1785160" y="1791880"/>
                </a:lnTo>
                <a:lnTo>
                  <a:pt x="0" y="17918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36240" y="2059036"/>
            <a:ext cx="2034254" cy="2057400"/>
          </a:xfrm>
          <a:custGeom>
            <a:avLst/>
            <a:gdLst/>
            <a:ahLst/>
            <a:cxnLst/>
            <a:rect r="r" b="b" t="t" l="l"/>
            <a:pathLst>
              <a:path h="2057400" w="2034254">
                <a:moveTo>
                  <a:pt x="0" y="0"/>
                </a:moveTo>
                <a:lnTo>
                  <a:pt x="2034254" y="0"/>
                </a:lnTo>
                <a:lnTo>
                  <a:pt x="2034254"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943701" y="4204370"/>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957F3B"/>
                </a:solidFill>
                <a:latin typeface="HK Modular"/>
                <a:ea typeface="HK Modular"/>
                <a:cs typeface="HK Modular"/>
                <a:sym typeface="HK Modular"/>
              </a:rPr>
              <a:t>PRUEBAS UNITARIAS</a:t>
            </a:r>
          </a:p>
        </p:txBody>
      </p:sp>
      <p:sp>
        <p:nvSpPr>
          <p:cNvPr name="TextBox 9" id="9"/>
          <p:cNvSpPr txBox="true"/>
          <p:nvPr/>
        </p:nvSpPr>
        <p:spPr>
          <a:xfrm rot="0">
            <a:off x="6753370" y="4204370"/>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957F3B"/>
                </a:solidFill>
                <a:latin typeface="HK Modular"/>
                <a:ea typeface="HK Modular"/>
                <a:cs typeface="HK Modular"/>
                <a:sym typeface="HK Modular"/>
              </a:rPr>
              <a:t>PRUEBAS FUNCIONALES</a:t>
            </a:r>
          </a:p>
        </p:txBody>
      </p:sp>
      <p:sp>
        <p:nvSpPr>
          <p:cNvPr name="TextBox 10" id="10"/>
          <p:cNvSpPr txBox="true"/>
          <p:nvPr/>
        </p:nvSpPr>
        <p:spPr>
          <a:xfrm rot="0">
            <a:off x="1234315" y="5463178"/>
            <a:ext cx="4200033" cy="2662192"/>
          </a:xfrm>
          <a:prstGeom prst="rect">
            <a:avLst/>
          </a:prstGeom>
        </p:spPr>
        <p:txBody>
          <a:bodyPr anchor="t" rtlCol="false" tIns="0" lIns="0" bIns="0" rIns="0">
            <a:spAutoFit/>
          </a:bodyPr>
          <a:lstStyle/>
          <a:p>
            <a:pPr algn="ctr">
              <a:lnSpc>
                <a:spcPts val="3014"/>
              </a:lnSpc>
              <a:spcBef>
                <a:spcPct val="0"/>
              </a:spcBef>
            </a:pPr>
            <a:r>
              <a:rPr lang="en-US" sz="2153">
                <a:solidFill>
                  <a:srgbClr val="FFFFFF"/>
                </a:solidFill>
                <a:latin typeface="Poppins"/>
                <a:ea typeface="Poppins"/>
                <a:cs typeface="Poppins"/>
                <a:sym typeface="Poppins"/>
              </a:rPr>
              <a:t>Son pruebas de bajo nivel, realizadas cerca de la fuente de la aplicacion, prueba metodos y funciones individuales de las clases, componentes o modulos del software</a:t>
            </a:r>
          </a:p>
        </p:txBody>
      </p:sp>
      <p:sp>
        <p:nvSpPr>
          <p:cNvPr name="TextBox 11" id="11"/>
          <p:cNvSpPr txBox="true"/>
          <p:nvPr/>
        </p:nvSpPr>
        <p:spPr>
          <a:xfrm rot="0">
            <a:off x="7043984" y="5336122"/>
            <a:ext cx="4200033" cy="2662192"/>
          </a:xfrm>
          <a:prstGeom prst="rect">
            <a:avLst/>
          </a:prstGeom>
        </p:spPr>
        <p:txBody>
          <a:bodyPr anchor="t" rtlCol="false" tIns="0" lIns="0" bIns="0" rIns="0">
            <a:spAutoFit/>
          </a:bodyPr>
          <a:lstStyle/>
          <a:p>
            <a:pPr algn="ctr">
              <a:lnSpc>
                <a:spcPts val="3014"/>
              </a:lnSpc>
              <a:spcBef>
                <a:spcPct val="0"/>
              </a:spcBef>
            </a:pPr>
            <a:r>
              <a:rPr lang="en-US" sz="2153">
                <a:solidFill>
                  <a:srgbClr val="FFFFFF"/>
                </a:solidFill>
                <a:latin typeface="Poppins"/>
                <a:ea typeface="Poppins"/>
                <a:cs typeface="Poppins"/>
                <a:sym typeface="Poppins"/>
              </a:rPr>
              <a:t>Se centran en los requisitos empresariales de una aplicacion, solo verifican el resultado de una accion y no comprueban estados intermedios del sistema al realizar dicha accion</a:t>
            </a:r>
          </a:p>
        </p:txBody>
      </p:sp>
      <p:sp>
        <p:nvSpPr>
          <p:cNvPr name="TextBox 12" id="12"/>
          <p:cNvSpPr txBox="true"/>
          <p:nvPr/>
        </p:nvSpPr>
        <p:spPr>
          <a:xfrm rot="0">
            <a:off x="1234315" y="8334920"/>
            <a:ext cx="4200033" cy="769190"/>
          </a:xfrm>
          <a:prstGeom prst="rect">
            <a:avLst/>
          </a:prstGeom>
        </p:spPr>
        <p:txBody>
          <a:bodyPr anchor="t" rtlCol="false" tIns="0" lIns="0" bIns="0" rIns="0">
            <a:spAutoFit/>
          </a:bodyPr>
          <a:lstStyle/>
          <a:p>
            <a:pPr algn="ctr">
              <a:lnSpc>
                <a:spcPts val="3014"/>
              </a:lnSpc>
              <a:spcBef>
                <a:spcPct val="0"/>
              </a:spcBef>
            </a:pPr>
            <a:r>
              <a:rPr lang="en-US" sz="2153">
                <a:solidFill>
                  <a:srgbClr val="99C5FF"/>
                </a:solidFill>
                <a:latin typeface="Poppins"/>
                <a:ea typeface="Poppins"/>
                <a:cs typeface="Poppins"/>
                <a:sym typeface="Poppins"/>
              </a:rPr>
              <a:t>EJEMPLO: Probar el metodo suma de una calculadora</a:t>
            </a:r>
          </a:p>
        </p:txBody>
      </p:sp>
      <p:sp>
        <p:nvSpPr>
          <p:cNvPr name="TextBox 13" id="13"/>
          <p:cNvSpPr txBox="true"/>
          <p:nvPr/>
        </p:nvSpPr>
        <p:spPr>
          <a:xfrm rot="0">
            <a:off x="7153351" y="8334920"/>
            <a:ext cx="4200033" cy="769190"/>
          </a:xfrm>
          <a:prstGeom prst="rect">
            <a:avLst/>
          </a:prstGeom>
        </p:spPr>
        <p:txBody>
          <a:bodyPr anchor="t" rtlCol="false" tIns="0" lIns="0" bIns="0" rIns="0">
            <a:spAutoFit/>
          </a:bodyPr>
          <a:lstStyle/>
          <a:p>
            <a:pPr algn="ctr">
              <a:lnSpc>
                <a:spcPts val="3014"/>
              </a:lnSpc>
              <a:spcBef>
                <a:spcPct val="0"/>
              </a:spcBef>
            </a:pPr>
            <a:r>
              <a:rPr lang="en-US" sz="2153">
                <a:solidFill>
                  <a:srgbClr val="99C5FF"/>
                </a:solidFill>
                <a:latin typeface="Poppins"/>
                <a:ea typeface="Poppins"/>
                <a:cs typeface="Poppins"/>
                <a:sym typeface="Poppins"/>
              </a:rPr>
              <a:t>EJEMPLO: Probar el Login de una aplicacion</a:t>
            </a:r>
          </a:p>
        </p:txBody>
      </p:sp>
      <p:sp>
        <p:nvSpPr>
          <p:cNvPr name="Freeform 14" id="14"/>
          <p:cNvSpPr/>
          <p:nvPr/>
        </p:nvSpPr>
        <p:spPr>
          <a:xfrm flipH="false" flipV="false" rot="0">
            <a:off x="14508718" y="2123053"/>
            <a:ext cx="1885305" cy="1675565"/>
          </a:xfrm>
          <a:custGeom>
            <a:avLst/>
            <a:gdLst/>
            <a:ahLst/>
            <a:cxnLst/>
            <a:rect r="r" b="b" t="t" l="l"/>
            <a:pathLst>
              <a:path h="1675565" w="1885305">
                <a:moveTo>
                  <a:pt x="0" y="0"/>
                </a:moveTo>
                <a:lnTo>
                  <a:pt x="1885305" y="0"/>
                </a:lnTo>
                <a:lnTo>
                  <a:pt x="1885305" y="1675564"/>
                </a:lnTo>
                <a:lnTo>
                  <a:pt x="0" y="16755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3618721" y="4852348"/>
            <a:ext cx="3665300" cy="2652614"/>
          </a:xfrm>
          <a:prstGeom prst="rect">
            <a:avLst/>
          </a:prstGeom>
        </p:spPr>
        <p:txBody>
          <a:bodyPr anchor="t" rtlCol="false" tIns="0" lIns="0" bIns="0" rIns="0">
            <a:spAutoFit/>
          </a:bodyPr>
          <a:lstStyle/>
          <a:p>
            <a:pPr algn="ctr">
              <a:lnSpc>
                <a:spcPts val="2630"/>
              </a:lnSpc>
              <a:spcBef>
                <a:spcPct val="0"/>
              </a:spcBef>
            </a:pPr>
            <a:r>
              <a:rPr lang="en-US" sz="1878">
                <a:solidFill>
                  <a:srgbClr val="FFFFFF"/>
                </a:solidFill>
                <a:latin typeface="Poppins"/>
                <a:ea typeface="Poppins"/>
                <a:cs typeface="Poppins"/>
                <a:sym typeface="Poppins"/>
              </a:rPr>
              <a:t>Simulan una demanda de trafico esperada en una aplicacion para evaluar su rendimiento, capacidad de respuesta, tasas de rendimiento y utilizacion de recursos bajo condiciones de estres</a:t>
            </a:r>
          </a:p>
        </p:txBody>
      </p:sp>
      <p:sp>
        <p:nvSpPr>
          <p:cNvPr name="TextBox 16" id="16"/>
          <p:cNvSpPr txBox="true"/>
          <p:nvPr/>
        </p:nvSpPr>
        <p:spPr>
          <a:xfrm rot="0">
            <a:off x="13060740" y="4006106"/>
            <a:ext cx="4781261" cy="464060"/>
          </a:xfrm>
          <a:prstGeom prst="rect">
            <a:avLst/>
          </a:prstGeom>
        </p:spPr>
        <p:txBody>
          <a:bodyPr anchor="t" rtlCol="false" tIns="0" lIns="0" bIns="0" rIns="0">
            <a:spAutoFit/>
          </a:bodyPr>
          <a:lstStyle/>
          <a:p>
            <a:pPr algn="ctr">
              <a:lnSpc>
                <a:spcPts val="3756"/>
              </a:lnSpc>
              <a:spcBef>
                <a:spcPct val="0"/>
              </a:spcBef>
            </a:pPr>
            <a:r>
              <a:rPr lang="en-US" sz="2683">
                <a:solidFill>
                  <a:srgbClr val="957F3B"/>
                </a:solidFill>
                <a:latin typeface="HK Modular"/>
                <a:ea typeface="HK Modular"/>
                <a:cs typeface="HK Modular"/>
                <a:sym typeface="HK Modular"/>
              </a:rPr>
              <a:t>PRUEBAS DE CARGA</a:t>
            </a:r>
          </a:p>
        </p:txBody>
      </p:sp>
      <p:sp>
        <p:nvSpPr>
          <p:cNvPr name="TextBox 17" id="17"/>
          <p:cNvSpPr txBox="true"/>
          <p:nvPr/>
        </p:nvSpPr>
        <p:spPr>
          <a:xfrm rot="0">
            <a:off x="13351354" y="7876437"/>
            <a:ext cx="4200033" cy="1526391"/>
          </a:xfrm>
          <a:prstGeom prst="rect">
            <a:avLst/>
          </a:prstGeom>
        </p:spPr>
        <p:txBody>
          <a:bodyPr anchor="t" rtlCol="false" tIns="0" lIns="0" bIns="0" rIns="0">
            <a:spAutoFit/>
          </a:bodyPr>
          <a:lstStyle/>
          <a:p>
            <a:pPr algn="ctr">
              <a:lnSpc>
                <a:spcPts val="3014"/>
              </a:lnSpc>
              <a:spcBef>
                <a:spcPct val="0"/>
              </a:spcBef>
            </a:pPr>
            <a:r>
              <a:rPr lang="en-US" sz="2153">
                <a:solidFill>
                  <a:srgbClr val="99C5FF"/>
                </a:solidFill>
                <a:latin typeface="Poppins"/>
                <a:ea typeface="Poppins"/>
                <a:cs typeface="Poppins"/>
                <a:sym typeface="Poppins"/>
              </a:rPr>
              <a:t>EJEMPLO: Probar el Flujo de transacciones para una pasarela de pagos en Black Friday</a:t>
            </a:r>
          </a:p>
        </p:txBody>
      </p:sp>
      <p:sp>
        <p:nvSpPr>
          <p:cNvPr name="Freeform 18" id="18"/>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9"/>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19409" y="2397470"/>
            <a:ext cx="649182" cy="1126563"/>
          </a:xfrm>
          <a:custGeom>
            <a:avLst/>
            <a:gdLst/>
            <a:ahLst/>
            <a:cxnLst/>
            <a:rect r="r" b="b" t="t" l="l"/>
            <a:pathLst>
              <a:path h="1126563" w="649182">
                <a:moveTo>
                  <a:pt x="0" y="0"/>
                </a:moveTo>
                <a:lnTo>
                  <a:pt x="649182" y="0"/>
                </a:lnTo>
                <a:lnTo>
                  <a:pt x="649182" y="1126563"/>
                </a:lnTo>
                <a:lnTo>
                  <a:pt x="0" y="11265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026975" y="4563246"/>
            <a:ext cx="4234051" cy="2434378"/>
          </a:xfrm>
          <a:custGeom>
            <a:avLst/>
            <a:gdLst/>
            <a:ahLst/>
            <a:cxnLst/>
            <a:rect r="r" b="b" t="t" l="l"/>
            <a:pathLst>
              <a:path h="2434378" w="4234051">
                <a:moveTo>
                  <a:pt x="0" y="0"/>
                </a:moveTo>
                <a:lnTo>
                  <a:pt x="4234050" y="0"/>
                </a:lnTo>
                <a:lnTo>
                  <a:pt x="4234050" y="2434378"/>
                </a:lnTo>
                <a:lnTo>
                  <a:pt x="0" y="2434378"/>
                </a:lnTo>
                <a:lnTo>
                  <a:pt x="0" y="0"/>
                </a:lnTo>
                <a:close/>
              </a:path>
            </a:pathLst>
          </a:custGeom>
          <a:blipFill>
            <a:blip r:embed="rId5"/>
            <a:stretch>
              <a:fillRect l="0" t="0" r="0" b="0"/>
            </a:stretch>
          </a:blipFill>
        </p:spPr>
      </p:sp>
      <p:sp>
        <p:nvSpPr>
          <p:cNvPr name="TextBox 8" id="8"/>
          <p:cNvSpPr txBox="true"/>
          <p:nvPr/>
        </p:nvSpPr>
        <p:spPr>
          <a:xfrm rot="0">
            <a:off x="1856375" y="2462611"/>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957F3B"/>
                </a:solidFill>
                <a:latin typeface="HK Modular"/>
                <a:ea typeface="HK Modular"/>
                <a:cs typeface="HK Modular"/>
                <a:sym typeface="HK Modular"/>
              </a:rPr>
              <a:t>PRUEBAS DE CAJA NEGRA</a:t>
            </a:r>
          </a:p>
        </p:txBody>
      </p:sp>
      <p:sp>
        <p:nvSpPr>
          <p:cNvPr name="TextBox 9" id="9"/>
          <p:cNvSpPr txBox="true"/>
          <p:nvPr/>
        </p:nvSpPr>
        <p:spPr>
          <a:xfrm rot="0">
            <a:off x="11974108" y="2462611"/>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957F3B"/>
                </a:solidFill>
                <a:latin typeface="HK Modular"/>
                <a:ea typeface="HK Modular"/>
                <a:cs typeface="HK Modular"/>
                <a:sym typeface="HK Modular"/>
              </a:rPr>
              <a:t>PRUEBAS DE CAJA BLANCA</a:t>
            </a:r>
          </a:p>
        </p:txBody>
      </p:sp>
      <p:sp>
        <p:nvSpPr>
          <p:cNvPr name="TextBox 10" id="10"/>
          <p:cNvSpPr txBox="true"/>
          <p:nvPr/>
        </p:nvSpPr>
        <p:spPr>
          <a:xfrm rot="0">
            <a:off x="2414355" y="4449415"/>
            <a:ext cx="3665300" cy="1331020"/>
          </a:xfrm>
          <a:prstGeom prst="rect">
            <a:avLst/>
          </a:prstGeom>
        </p:spPr>
        <p:txBody>
          <a:bodyPr anchor="t" rtlCol="false" tIns="0" lIns="0" bIns="0" rIns="0">
            <a:spAutoFit/>
          </a:bodyPr>
          <a:lstStyle/>
          <a:p>
            <a:pPr algn="ctr">
              <a:lnSpc>
                <a:spcPts val="2630"/>
              </a:lnSpc>
              <a:spcBef>
                <a:spcPct val="0"/>
              </a:spcBef>
            </a:pPr>
            <a:r>
              <a:rPr lang="en-US" sz="1878">
                <a:solidFill>
                  <a:srgbClr val="FFFFFF"/>
                </a:solidFill>
                <a:latin typeface="Poppins"/>
                <a:ea typeface="Poppins"/>
                <a:cs typeface="Poppins"/>
                <a:sym typeface="Poppins"/>
              </a:rPr>
              <a:t>Verifican el comportamiento de un sistema sin conocer su codigo fuente ni estructura interna</a:t>
            </a:r>
          </a:p>
        </p:txBody>
      </p:sp>
      <p:sp>
        <p:nvSpPr>
          <p:cNvPr name="TextBox 11" id="11"/>
          <p:cNvSpPr txBox="true"/>
          <p:nvPr/>
        </p:nvSpPr>
        <p:spPr>
          <a:xfrm rot="0">
            <a:off x="12532088" y="4038474"/>
            <a:ext cx="3665300" cy="2322216"/>
          </a:xfrm>
          <a:prstGeom prst="rect">
            <a:avLst/>
          </a:prstGeom>
        </p:spPr>
        <p:txBody>
          <a:bodyPr anchor="t" rtlCol="false" tIns="0" lIns="0" bIns="0" rIns="0">
            <a:spAutoFit/>
          </a:bodyPr>
          <a:lstStyle/>
          <a:p>
            <a:pPr algn="ctr">
              <a:lnSpc>
                <a:spcPts val="2630"/>
              </a:lnSpc>
              <a:spcBef>
                <a:spcPct val="0"/>
              </a:spcBef>
            </a:pPr>
            <a:r>
              <a:rPr lang="en-US" sz="1878">
                <a:solidFill>
                  <a:srgbClr val="FFFFFF"/>
                </a:solidFill>
                <a:latin typeface="Poppins"/>
                <a:ea typeface="Poppins"/>
                <a:cs typeface="Poppins"/>
                <a:sym typeface="Poppins"/>
              </a:rPr>
              <a:t>Verifica el funcionamiento interno de un sistema, teniendo acceso total al codigo fuente, la infraestructura y los documentos de diseño del software en cuestion.</a:t>
            </a:r>
          </a:p>
        </p:txBody>
      </p:sp>
      <p:sp>
        <p:nvSpPr>
          <p:cNvPr name="TextBox 12" id="12"/>
          <p:cNvSpPr txBox="true"/>
          <p:nvPr/>
        </p:nvSpPr>
        <p:spPr>
          <a:xfrm rot="0">
            <a:off x="2037165" y="6132057"/>
            <a:ext cx="4200033" cy="390589"/>
          </a:xfrm>
          <a:prstGeom prst="rect">
            <a:avLst/>
          </a:prstGeom>
        </p:spPr>
        <p:txBody>
          <a:bodyPr anchor="t" rtlCol="false" tIns="0" lIns="0" bIns="0" rIns="0">
            <a:spAutoFit/>
          </a:bodyPr>
          <a:lstStyle/>
          <a:p>
            <a:pPr algn="ctr">
              <a:lnSpc>
                <a:spcPts val="3014"/>
              </a:lnSpc>
              <a:spcBef>
                <a:spcPct val="0"/>
              </a:spcBef>
            </a:pPr>
            <a:r>
              <a:rPr lang="en-US" sz="2153">
                <a:solidFill>
                  <a:srgbClr val="99C5FF"/>
                </a:solidFill>
                <a:latin typeface="Poppins"/>
                <a:ea typeface="Poppins"/>
                <a:cs typeface="Poppins"/>
                <a:sym typeface="Poppins"/>
              </a:rPr>
              <a:t>Pruebas Funcionales</a:t>
            </a:r>
          </a:p>
        </p:txBody>
      </p:sp>
      <p:sp>
        <p:nvSpPr>
          <p:cNvPr name="TextBox 13" id="13"/>
          <p:cNvSpPr txBox="true"/>
          <p:nvPr/>
        </p:nvSpPr>
        <p:spPr>
          <a:xfrm rot="0">
            <a:off x="12264722" y="6768992"/>
            <a:ext cx="4200033" cy="390589"/>
          </a:xfrm>
          <a:prstGeom prst="rect">
            <a:avLst/>
          </a:prstGeom>
        </p:spPr>
        <p:txBody>
          <a:bodyPr anchor="t" rtlCol="false" tIns="0" lIns="0" bIns="0" rIns="0">
            <a:spAutoFit/>
          </a:bodyPr>
          <a:lstStyle/>
          <a:p>
            <a:pPr algn="ctr">
              <a:lnSpc>
                <a:spcPts val="3014"/>
              </a:lnSpc>
              <a:spcBef>
                <a:spcPct val="0"/>
              </a:spcBef>
            </a:pPr>
            <a:r>
              <a:rPr lang="en-US" sz="2153">
                <a:solidFill>
                  <a:srgbClr val="99C5FF"/>
                </a:solidFill>
                <a:latin typeface="Poppins"/>
                <a:ea typeface="Poppins"/>
                <a:cs typeface="Poppins"/>
                <a:sym typeface="Poppins"/>
              </a:rPr>
              <a:t>Pruebas unitarias</a:t>
            </a:r>
          </a:p>
        </p:txBody>
      </p:sp>
      <p:sp>
        <p:nvSpPr>
          <p:cNvPr name="TextBox 14" id="14"/>
          <p:cNvSpPr txBox="true"/>
          <p:nvPr/>
        </p:nvSpPr>
        <p:spPr>
          <a:xfrm rot="0">
            <a:off x="2037165" y="6768992"/>
            <a:ext cx="4200033" cy="390589"/>
          </a:xfrm>
          <a:prstGeom prst="rect">
            <a:avLst/>
          </a:prstGeom>
        </p:spPr>
        <p:txBody>
          <a:bodyPr anchor="t" rtlCol="false" tIns="0" lIns="0" bIns="0" rIns="0">
            <a:spAutoFit/>
          </a:bodyPr>
          <a:lstStyle/>
          <a:p>
            <a:pPr algn="ctr">
              <a:lnSpc>
                <a:spcPts val="3014"/>
              </a:lnSpc>
              <a:spcBef>
                <a:spcPct val="0"/>
              </a:spcBef>
            </a:pPr>
            <a:r>
              <a:rPr lang="en-US" sz="2153">
                <a:solidFill>
                  <a:srgbClr val="99C5FF"/>
                </a:solidFill>
                <a:latin typeface="Poppins"/>
                <a:ea typeface="Poppins"/>
                <a:cs typeface="Poppins"/>
                <a:sym typeface="Poppins"/>
              </a:rPr>
              <a:t>Pruebas de Carga</a:t>
            </a:r>
          </a:p>
        </p:txBody>
      </p:sp>
      <p:sp>
        <p:nvSpPr>
          <p:cNvPr name="Freeform 15" id="15"/>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T.D.D - TEST DRIVEN DEVELOPMENT</a:t>
            </a:r>
          </a:p>
        </p:txBody>
      </p:sp>
      <p:sp>
        <p:nvSpPr>
          <p:cNvPr name="Freeform 13" id="13"/>
          <p:cNvSpPr/>
          <p:nvPr/>
        </p:nvSpPr>
        <p:spPr>
          <a:xfrm flipH="false" flipV="false" rot="0">
            <a:off x="7575020" y="0"/>
            <a:ext cx="3528962" cy="3528962"/>
          </a:xfrm>
          <a:custGeom>
            <a:avLst/>
            <a:gdLst/>
            <a:ahLst/>
            <a:cxnLst/>
            <a:rect r="r" b="b" t="t" l="l"/>
            <a:pathLst>
              <a:path h="3528962" w="3528962">
                <a:moveTo>
                  <a:pt x="0" y="0"/>
                </a:moveTo>
                <a:lnTo>
                  <a:pt x="3528962" y="0"/>
                </a:lnTo>
                <a:lnTo>
                  <a:pt x="3528962" y="3528962"/>
                </a:lnTo>
                <a:lnTo>
                  <a:pt x="0" y="3528962"/>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957F3B"/>
                </a:solidFill>
                <a:latin typeface="HK Modular"/>
                <a:ea typeface="HK Modular"/>
                <a:cs typeface="HK Modular"/>
                <a:sym typeface="HK Modular"/>
              </a:rPr>
              <a:t>T.D.D - TEST DRIVEN DEVELOPMENT</a:t>
            </a:r>
          </a:p>
          <a:p>
            <a:pPr algn="ctr">
              <a:lnSpc>
                <a:spcPts val="7012"/>
              </a:lnSpc>
              <a:spcBef>
                <a:spcPct val="0"/>
              </a:spcBef>
            </a:pPr>
          </a:p>
        </p:txBody>
      </p:sp>
      <p:sp>
        <p:nvSpPr>
          <p:cNvPr name="TextBox 7" id="7"/>
          <p:cNvSpPr txBox="true"/>
          <p:nvPr/>
        </p:nvSpPr>
        <p:spPr>
          <a:xfrm rot="0">
            <a:off x="2181545" y="3258669"/>
            <a:ext cx="14143645" cy="1135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Es una practica de programacion que consiste en escribir primero las pruebas (generalmente unitarias), despues escribir el codigo fuente que pase la prueba satisfactoriamente y por ultimo, refactorizar el codigo escrito</a:t>
            </a:r>
          </a:p>
        </p:txBody>
      </p:sp>
      <p:sp>
        <p:nvSpPr>
          <p:cNvPr name="TextBox 8" id="8"/>
          <p:cNvSpPr txBox="true"/>
          <p:nvPr/>
        </p:nvSpPr>
        <p:spPr>
          <a:xfrm rot="0">
            <a:off x="5474724" y="8875839"/>
            <a:ext cx="6948934" cy="726822"/>
          </a:xfrm>
          <a:prstGeom prst="rect">
            <a:avLst/>
          </a:prstGeom>
        </p:spPr>
        <p:txBody>
          <a:bodyPr anchor="t" rtlCol="false" tIns="0" lIns="0" bIns="0" rIns="0">
            <a:spAutoFit/>
          </a:bodyPr>
          <a:lstStyle/>
          <a:p>
            <a:pPr algn="ctr" marL="460941" indent="-230470" lvl="1">
              <a:lnSpc>
                <a:spcPts val="2988"/>
              </a:lnSpc>
              <a:buFont typeface="Arial"/>
              <a:buChar char="•"/>
            </a:pPr>
            <a:r>
              <a:rPr lang="en-US" sz="2134">
                <a:solidFill>
                  <a:srgbClr val="FFFFFF"/>
                </a:solidFill>
                <a:latin typeface="Open Sans"/>
                <a:ea typeface="Open Sans"/>
                <a:cs typeface="Open Sans"/>
                <a:sym typeface="Open Sans"/>
              </a:rPr>
              <a:t>Este ciclo tambien se conoce como ROJO, VERDE y Refactor</a:t>
            </a:r>
          </a:p>
        </p:txBody>
      </p:sp>
      <p:sp>
        <p:nvSpPr>
          <p:cNvPr name="Freeform 9" id="9"/>
          <p:cNvSpPr/>
          <p:nvPr/>
        </p:nvSpPr>
        <p:spPr>
          <a:xfrm flipH="false" flipV="false" rot="0">
            <a:off x="7165565" y="4660442"/>
            <a:ext cx="4175605" cy="3987702"/>
          </a:xfrm>
          <a:custGeom>
            <a:avLst/>
            <a:gdLst/>
            <a:ahLst/>
            <a:cxnLst/>
            <a:rect r="r" b="b" t="t" l="l"/>
            <a:pathLst>
              <a:path h="3987702" w="4175605">
                <a:moveTo>
                  <a:pt x="0" y="0"/>
                </a:moveTo>
                <a:lnTo>
                  <a:pt x="4175604" y="0"/>
                </a:lnTo>
                <a:lnTo>
                  <a:pt x="4175604" y="3987703"/>
                </a:lnTo>
                <a:lnTo>
                  <a:pt x="0" y="3987703"/>
                </a:lnTo>
                <a:lnTo>
                  <a:pt x="0" y="0"/>
                </a:lnTo>
                <a:close/>
              </a:path>
            </a:pathLst>
          </a:custGeom>
          <a:blipFill>
            <a:blip r:embed="rId3"/>
            <a:stretch>
              <a:fillRect l="0" t="0" r="0" b="0"/>
            </a:stretch>
          </a:blipFill>
        </p:spPr>
      </p:sp>
      <p:sp>
        <p:nvSpPr>
          <p:cNvPr name="Freeform 10" id="10"/>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957F3B"/>
                </a:solidFill>
                <a:latin typeface="HK Modular"/>
                <a:ea typeface="HK Modular"/>
                <a:cs typeface="HK Modular"/>
                <a:sym typeface="HK Modular"/>
              </a:rPr>
              <a:t>T.D.D - EJEMPLO</a:t>
            </a:r>
          </a:p>
          <a:p>
            <a:pPr algn="ctr">
              <a:lnSpc>
                <a:spcPts val="7012"/>
              </a:lnSpc>
              <a:spcBef>
                <a:spcPct val="0"/>
              </a:spcBef>
            </a:pPr>
          </a:p>
        </p:txBody>
      </p:sp>
      <p:sp>
        <p:nvSpPr>
          <p:cNvPr name="Freeform 7" id="7"/>
          <p:cNvSpPr/>
          <p:nvPr/>
        </p:nvSpPr>
        <p:spPr>
          <a:xfrm flipH="false" flipV="false" rot="0">
            <a:off x="2763959" y="3114396"/>
            <a:ext cx="2102228" cy="2332570"/>
          </a:xfrm>
          <a:custGeom>
            <a:avLst/>
            <a:gdLst/>
            <a:ahLst/>
            <a:cxnLst/>
            <a:rect r="r" b="b" t="t" l="l"/>
            <a:pathLst>
              <a:path h="2332570" w="2102228">
                <a:moveTo>
                  <a:pt x="0" y="0"/>
                </a:moveTo>
                <a:lnTo>
                  <a:pt x="2102228" y="0"/>
                </a:lnTo>
                <a:lnTo>
                  <a:pt x="2102228" y="2332570"/>
                </a:lnTo>
                <a:lnTo>
                  <a:pt x="0" y="2332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021023" y="7384077"/>
            <a:ext cx="8783357" cy="805141"/>
          </a:xfrm>
          <a:custGeom>
            <a:avLst/>
            <a:gdLst/>
            <a:ahLst/>
            <a:cxnLst/>
            <a:rect r="r" b="b" t="t" l="l"/>
            <a:pathLst>
              <a:path h="805141" w="8783357">
                <a:moveTo>
                  <a:pt x="0" y="0"/>
                </a:moveTo>
                <a:lnTo>
                  <a:pt x="8783357" y="0"/>
                </a:lnTo>
                <a:lnTo>
                  <a:pt x="8783357" y="805141"/>
                </a:lnTo>
                <a:lnTo>
                  <a:pt x="0" y="805141"/>
                </a:lnTo>
                <a:lnTo>
                  <a:pt x="0" y="0"/>
                </a:lnTo>
                <a:close/>
              </a:path>
            </a:pathLst>
          </a:custGeom>
          <a:blipFill>
            <a:blip r:embed="rId5"/>
            <a:stretch>
              <a:fillRect l="0" t="0" r="0" b="0"/>
            </a:stretch>
          </a:blipFill>
        </p:spPr>
      </p:sp>
      <p:sp>
        <p:nvSpPr>
          <p:cNvPr name="TextBox 9" id="9"/>
          <p:cNvSpPr txBox="true"/>
          <p:nvPr/>
        </p:nvSpPr>
        <p:spPr>
          <a:xfrm rot="0">
            <a:off x="6843838" y="3297022"/>
            <a:ext cx="10865702" cy="373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Un cliente nos pide que desarrollemos una calculadora que sume numeros</a:t>
            </a:r>
          </a:p>
        </p:txBody>
      </p:sp>
      <p:sp>
        <p:nvSpPr>
          <p:cNvPr name="TextBox 10" id="10"/>
          <p:cNvSpPr txBox="true"/>
          <p:nvPr/>
        </p:nvSpPr>
        <p:spPr>
          <a:xfrm rot="0">
            <a:off x="6843838" y="4233056"/>
            <a:ext cx="10865702" cy="1135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 Se acuerda con el cliente los criterios necesarios es decir: Si al introducir en la calculadora dos numeros y le das a la operacion de sumar, la calculadora debe mostrar el resultado en pantalla</a:t>
            </a:r>
          </a:p>
        </p:txBody>
      </p:sp>
      <p:sp>
        <p:nvSpPr>
          <p:cNvPr name="TextBox 11" id="11"/>
          <p:cNvSpPr txBox="true"/>
          <p:nvPr/>
        </p:nvSpPr>
        <p:spPr>
          <a:xfrm rot="0">
            <a:off x="6843838" y="5684549"/>
            <a:ext cx="10865702" cy="1135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 partir de lo anterior se comienza a definir el funcionamiento del algoritmo de suma y lo convertimos en una prueba concreta, por ejemplo que pasa si sumamos 3 + 5 = 8</a:t>
            </a:r>
          </a:p>
        </p:txBody>
      </p:sp>
      <p:sp>
        <p:nvSpPr>
          <p:cNvPr name="Freeform 12" id="12"/>
          <p:cNvSpPr/>
          <p:nvPr/>
        </p:nvSpPr>
        <p:spPr>
          <a:xfrm flipH="false" flipV="false" rot="0">
            <a:off x="1682870" y="5792796"/>
            <a:ext cx="4175605" cy="3987702"/>
          </a:xfrm>
          <a:custGeom>
            <a:avLst/>
            <a:gdLst/>
            <a:ahLst/>
            <a:cxnLst/>
            <a:rect r="r" b="b" t="t" l="l"/>
            <a:pathLst>
              <a:path h="3987702" w="4175605">
                <a:moveTo>
                  <a:pt x="0" y="0"/>
                </a:moveTo>
                <a:lnTo>
                  <a:pt x="4175604" y="0"/>
                </a:lnTo>
                <a:lnTo>
                  <a:pt x="4175604" y="3987703"/>
                </a:lnTo>
                <a:lnTo>
                  <a:pt x="0" y="3987703"/>
                </a:lnTo>
                <a:lnTo>
                  <a:pt x="0" y="0"/>
                </a:lnTo>
                <a:close/>
              </a:path>
            </a:pathLst>
          </a:custGeom>
          <a:blipFill>
            <a:blip r:embed="rId6"/>
            <a:stretch>
              <a:fillRect l="0" t="0" r="0" b="0"/>
            </a:stretch>
          </a:blipFill>
        </p:spPr>
      </p:sp>
      <p:sp>
        <p:nvSpPr>
          <p:cNvPr name="Freeform 13" id="13"/>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7"/>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957F3B"/>
                </a:solidFill>
                <a:latin typeface="HK Modular"/>
                <a:ea typeface="HK Modular"/>
                <a:cs typeface="HK Modular"/>
                <a:sym typeface="HK Modular"/>
              </a:rPr>
              <a:t>T.D.D - EJEMPLO</a:t>
            </a:r>
          </a:p>
          <a:p>
            <a:pPr algn="ctr">
              <a:lnSpc>
                <a:spcPts val="7012"/>
              </a:lnSpc>
              <a:spcBef>
                <a:spcPct val="0"/>
              </a:spcBef>
            </a:pPr>
          </a:p>
        </p:txBody>
      </p:sp>
      <p:sp>
        <p:nvSpPr>
          <p:cNvPr name="Freeform 7" id="7"/>
          <p:cNvSpPr/>
          <p:nvPr/>
        </p:nvSpPr>
        <p:spPr>
          <a:xfrm flipH="false" flipV="false" rot="0">
            <a:off x="2763959" y="3114396"/>
            <a:ext cx="2102228" cy="2332570"/>
          </a:xfrm>
          <a:custGeom>
            <a:avLst/>
            <a:gdLst/>
            <a:ahLst/>
            <a:cxnLst/>
            <a:rect r="r" b="b" t="t" l="l"/>
            <a:pathLst>
              <a:path h="2332570" w="2102228">
                <a:moveTo>
                  <a:pt x="0" y="0"/>
                </a:moveTo>
                <a:lnTo>
                  <a:pt x="2102228" y="0"/>
                </a:lnTo>
                <a:lnTo>
                  <a:pt x="2102228" y="2332570"/>
                </a:lnTo>
                <a:lnTo>
                  <a:pt x="0" y="2332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7648884" y="6256610"/>
            <a:ext cx="9741679" cy="730626"/>
          </a:xfrm>
          <a:custGeom>
            <a:avLst/>
            <a:gdLst/>
            <a:ahLst/>
            <a:cxnLst/>
            <a:rect r="r" b="b" t="t" l="l"/>
            <a:pathLst>
              <a:path h="730626" w="9741679">
                <a:moveTo>
                  <a:pt x="0" y="0"/>
                </a:moveTo>
                <a:lnTo>
                  <a:pt x="9741679" y="0"/>
                </a:lnTo>
                <a:lnTo>
                  <a:pt x="9741679" y="730626"/>
                </a:lnTo>
                <a:lnTo>
                  <a:pt x="0" y="730626"/>
                </a:lnTo>
                <a:lnTo>
                  <a:pt x="0" y="0"/>
                </a:lnTo>
                <a:close/>
              </a:path>
            </a:pathLst>
          </a:custGeom>
          <a:blipFill>
            <a:blip r:embed="rId5"/>
            <a:stretch>
              <a:fillRect l="0" t="0" r="0" b="0"/>
            </a:stretch>
          </a:blipFill>
        </p:spPr>
      </p:sp>
      <p:sp>
        <p:nvSpPr>
          <p:cNvPr name="Freeform 9" id="9"/>
          <p:cNvSpPr/>
          <p:nvPr/>
        </p:nvSpPr>
        <p:spPr>
          <a:xfrm flipH="false" flipV="false" rot="0">
            <a:off x="8628675" y="8902274"/>
            <a:ext cx="7782096" cy="635933"/>
          </a:xfrm>
          <a:custGeom>
            <a:avLst/>
            <a:gdLst/>
            <a:ahLst/>
            <a:cxnLst/>
            <a:rect r="r" b="b" t="t" l="l"/>
            <a:pathLst>
              <a:path h="635933" w="7782096">
                <a:moveTo>
                  <a:pt x="0" y="0"/>
                </a:moveTo>
                <a:lnTo>
                  <a:pt x="7782097" y="0"/>
                </a:lnTo>
                <a:lnTo>
                  <a:pt x="7782097" y="635933"/>
                </a:lnTo>
                <a:lnTo>
                  <a:pt x="0" y="635933"/>
                </a:lnTo>
                <a:lnTo>
                  <a:pt x="0" y="0"/>
                </a:lnTo>
                <a:close/>
              </a:path>
            </a:pathLst>
          </a:custGeom>
          <a:blipFill>
            <a:blip r:embed="rId6"/>
            <a:stretch>
              <a:fillRect l="0" t="0" r="0" b="0"/>
            </a:stretch>
          </a:blipFill>
        </p:spPr>
      </p:sp>
      <p:sp>
        <p:nvSpPr>
          <p:cNvPr name="TextBox 10" id="10"/>
          <p:cNvSpPr txBox="true"/>
          <p:nvPr/>
        </p:nvSpPr>
        <p:spPr>
          <a:xfrm rot="0">
            <a:off x="7086873" y="3144702"/>
            <a:ext cx="10865702" cy="1135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La clase aun no existe pero ya sabemos como va a funcionar, hay casos donde no se sabe exactamente que clases existen o que metodos se colocan, solo es necesario lo que se necesite en el momento</a:t>
            </a:r>
          </a:p>
        </p:txBody>
      </p:sp>
      <p:sp>
        <p:nvSpPr>
          <p:cNvPr name="TextBox 11" id="11"/>
          <p:cNvSpPr txBox="true"/>
          <p:nvPr/>
        </p:nvSpPr>
        <p:spPr>
          <a:xfrm rot="0">
            <a:off x="7086873" y="4611920"/>
            <a:ext cx="10865702" cy="373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Al ejecutar el test nos dara error, porque la clase aun no existe</a:t>
            </a:r>
          </a:p>
        </p:txBody>
      </p:sp>
      <p:sp>
        <p:nvSpPr>
          <p:cNvPr name="TextBox 12" id="12"/>
          <p:cNvSpPr txBox="true"/>
          <p:nvPr/>
        </p:nvSpPr>
        <p:spPr>
          <a:xfrm rot="0">
            <a:off x="7086873" y="5319274"/>
            <a:ext cx="10865702" cy="754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Ahora pasamos a escribir el codigo de la clase, es facil porque ya sabemos su comportamiento</a:t>
            </a:r>
          </a:p>
        </p:txBody>
      </p:sp>
      <p:sp>
        <p:nvSpPr>
          <p:cNvPr name="TextBox 13" id="13"/>
          <p:cNvSpPr txBox="true"/>
          <p:nvPr/>
        </p:nvSpPr>
        <p:spPr>
          <a:xfrm rot="0">
            <a:off x="7086873" y="7320611"/>
            <a:ext cx="10865702" cy="754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Ahora re ejecutamos la prueba, y ya debe estar funcionando gracias a la implementacion</a:t>
            </a:r>
          </a:p>
        </p:txBody>
      </p:sp>
      <p:sp>
        <p:nvSpPr>
          <p:cNvPr name="TextBox 14" id="14"/>
          <p:cNvSpPr txBox="true"/>
          <p:nvPr/>
        </p:nvSpPr>
        <p:spPr>
          <a:xfrm rot="0">
            <a:off x="7193955" y="8208939"/>
            <a:ext cx="10865702" cy="378741"/>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Una vez funcionando, pasamos a refactorizar y a eliminar codigo duplicado</a:t>
            </a:r>
          </a:p>
        </p:txBody>
      </p:sp>
      <p:sp>
        <p:nvSpPr>
          <p:cNvPr name="Freeform 15" id="15"/>
          <p:cNvSpPr/>
          <p:nvPr/>
        </p:nvSpPr>
        <p:spPr>
          <a:xfrm flipH="false" flipV="false" rot="0">
            <a:off x="1682870" y="5792796"/>
            <a:ext cx="4175605" cy="3987702"/>
          </a:xfrm>
          <a:custGeom>
            <a:avLst/>
            <a:gdLst/>
            <a:ahLst/>
            <a:cxnLst/>
            <a:rect r="r" b="b" t="t" l="l"/>
            <a:pathLst>
              <a:path h="3987702" w="4175605">
                <a:moveTo>
                  <a:pt x="0" y="0"/>
                </a:moveTo>
                <a:lnTo>
                  <a:pt x="4175604" y="0"/>
                </a:lnTo>
                <a:lnTo>
                  <a:pt x="4175604" y="3987703"/>
                </a:lnTo>
                <a:lnTo>
                  <a:pt x="0" y="3987703"/>
                </a:lnTo>
                <a:lnTo>
                  <a:pt x="0" y="0"/>
                </a:lnTo>
                <a:close/>
              </a:path>
            </a:pathLst>
          </a:custGeom>
          <a:blipFill>
            <a:blip r:embed="rId7"/>
            <a:stretch>
              <a:fillRect l="0" t="0" r="0" b="0"/>
            </a:stretch>
          </a:blipFill>
        </p:spPr>
      </p:sp>
      <p:sp>
        <p:nvSpPr>
          <p:cNvPr name="Freeform 16" id="16"/>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8"/>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957F3B"/>
                </a:solidFill>
                <a:latin typeface="HK Modular"/>
                <a:ea typeface="HK Modular"/>
                <a:cs typeface="HK Modular"/>
                <a:sym typeface="HK Modular"/>
              </a:rPr>
              <a:t>T.D.D - EJEMPLO</a:t>
            </a:r>
          </a:p>
          <a:p>
            <a:pPr algn="ctr">
              <a:lnSpc>
                <a:spcPts val="7012"/>
              </a:lnSpc>
              <a:spcBef>
                <a:spcPct val="0"/>
              </a:spcBef>
            </a:pPr>
          </a:p>
        </p:txBody>
      </p:sp>
      <p:sp>
        <p:nvSpPr>
          <p:cNvPr name="Freeform 7" id="7"/>
          <p:cNvSpPr/>
          <p:nvPr/>
        </p:nvSpPr>
        <p:spPr>
          <a:xfrm flipH="false" flipV="false" rot="0">
            <a:off x="7604006" y="6259177"/>
            <a:ext cx="3502948" cy="3886766"/>
          </a:xfrm>
          <a:custGeom>
            <a:avLst/>
            <a:gdLst/>
            <a:ahLst/>
            <a:cxnLst/>
            <a:rect r="r" b="b" t="t" l="l"/>
            <a:pathLst>
              <a:path h="3886766" w="3502948">
                <a:moveTo>
                  <a:pt x="0" y="0"/>
                </a:moveTo>
                <a:lnTo>
                  <a:pt x="3502948" y="0"/>
                </a:lnTo>
                <a:lnTo>
                  <a:pt x="3502948" y="3886766"/>
                </a:lnTo>
                <a:lnTo>
                  <a:pt x="0" y="3886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3820516" y="3269699"/>
            <a:ext cx="10865702" cy="754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Es importante pasar todos los test despues de refactorizar por si se ha cambiado algo</a:t>
            </a:r>
          </a:p>
        </p:txBody>
      </p:sp>
      <p:sp>
        <p:nvSpPr>
          <p:cNvPr name="TextBox 9" id="9"/>
          <p:cNvSpPr txBox="true"/>
          <p:nvPr/>
        </p:nvSpPr>
        <p:spPr>
          <a:xfrm rot="0">
            <a:off x="3820516" y="4361198"/>
            <a:ext cx="10865702" cy="1516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Se puede volver a los criterios de la calculadora con funcionalidades mas complicadas como lo es admitir numeros decimales, sumar numeros negativos, que la suma sin importar si a &gt; b o b &gt; a de igual, etc, y replicar el mismo procedimiento.</a:t>
            </a:r>
          </a:p>
        </p:txBody>
      </p:sp>
      <p:sp>
        <p:nvSpPr>
          <p:cNvPr name="Freeform 10" id="10"/>
          <p:cNvSpPr/>
          <p:nvPr/>
        </p:nvSpPr>
        <p:spPr>
          <a:xfrm flipH="false" flipV="false" rot="0">
            <a:off x="8049572"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706985" y="4475137"/>
            <a:ext cx="1743099" cy="2697252"/>
          </a:xfrm>
          <a:custGeom>
            <a:avLst/>
            <a:gdLst/>
            <a:ahLst/>
            <a:cxnLst/>
            <a:rect r="r" b="b" t="t" l="l"/>
            <a:pathLst>
              <a:path h="2697252" w="1743099">
                <a:moveTo>
                  <a:pt x="0" y="0"/>
                </a:moveTo>
                <a:lnTo>
                  <a:pt x="1743099" y="0"/>
                </a:lnTo>
                <a:lnTo>
                  <a:pt x="1743099" y="2697252"/>
                </a:lnTo>
                <a:lnTo>
                  <a:pt x="0" y="26972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534381" y="4831536"/>
            <a:ext cx="1962234" cy="1962234"/>
          </a:xfrm>
          <a:custGeom>
            <a:avLst/>
            <a:gdLst/>
            <a:ahLst/>
            <a:cxnLst/>
            <a:rect r="r" b="b" t="t" l="l"/>
            <a:pathLst>
              <a:path h="1962234" w="1962234">
                <a:moveTo>
                  <a:pt x="0" y="0"/>
                </a:moveTo>
                <a:lnTo>
                  <a:pt x="1962233" y="0"/>
                </a:lnTo>
                <a:lnTo>
                  <a:pt x="1962233" y="1962233"/>
                </a:lnTo>
                <a:lnTo>
                  <a:pt x="0" y="19622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33273" y="4642333"/>
            <a:ext cx="3094870" cy="2530056"/>
          </a:xfrm>
          <a:custGeom>
            <a:avLst/>
            <a:gdLst/>
            <a:ahLst/>
            <a:cxnLst/>
            <a:rect r="r" b="b" t="t" l="l"/>
            <a:pathLst>
              <a:path h="2530056" w="3094870">
                <a:moveTo>
                  <a:pt x="0" y="0"/>
                </a:moveTo>
                <a:lnTo>
                  <a:pt x="3094869" y="0"/>
                </a:lnTo>
                <a:lnTo>
                  <a:pt x="3094869" y="2530056"/>
                </a:lnTo>
                <a:lnTo>
                  <a:pt x="0" y="2530056"/>
                </a:lnTo>
                <a:lnTo>
                  <a:pt x="0" y="0"/>
                </a:lnTo>
                <a:close/>
              </a:path>
            </a:pathLst>
          </a:custGeom>
          <a:blipFill>
            <a:blip r:embed="rId7"/>
            <a:stretch>
              <a:fillRect l="0" t="0" r="0" b="0"/>
            </a:stretch>
          </a:blipFill>
        </p:spPr>
      </p:sp>
      <p:sp>
        <p:nvSpPr>
          <p:cNvPr name="TextBox 9" id="9"/>
          <p:cNvSpPr txBox="true"/>
          <p:nvPr/>
        </p:nvSpPr>
        <p:spPr>
          <a:xfrm rot="0">
            <a:off x="1562024" y="2194248"/>
            <a:ext cx="15906948" cy="2637287"/>
          </a:xfrm>
          <a:prstGeom prst="rect">
            <a:avLst/>
          </a:prstGeom>
        </p:spPr>
        <p:txBody>
          <a:bodyPr anchor="t" rtlCol="false" tIns="0" lIns="0" bIns="0" rIns="0">
            <a:spAutoFit/>
          </a:bodyPr>
          <a:lstStyle/>
          <a:p>
            <a:pPr algn="ctr">
              <a:lnSpc>
                <a:spcPts val="7012"/>
              </a:lnSpc>
            </a:pPr>
            <a:r>
              <a:rPr lang="en-US" sz="5008">
                <a:solidFill>
                  <a:srgbClr val="99B9FF"/>
                </a:solidFill>
                <a:latin typeface="HK Modular"/>
                <a:ea typeface="HK Modular"/>
                <a:cs typeface="HK Modular"/>
                <a:sym typeface="HK Modular"/>
              </a:rPr>
              <a:t>¿COMO DISEÑAR ESCENARIOS DE PRUEBAS?</a:t>
            </a:r>
          </a:p>
          <a:p>
            <a:pPr algn="ctr">
              <a:lnSpc>
                <a:spcPts val="7012"/>
              </a:lnSpc>
              <a:spcBef>
                <a:spcPct val="0"/>
              </a:spcBef>
            </a:pPr>
          </a:p>
        </p:txBody>
      </p:sp>
      <p:sp>
        <p:nvSpPr>
          <p:cNvPr name="TextBox 10" id="10"/>
          <p:cNvSpPr txBox="true"/>
          <p:nvPr/>
        </p:nvSpPr>
        <p:spPr>
          <a:xfrm rot="0">
            <a:off x="1366992" y="7447812"/>
            <a:ext cx="4186081" cy="1418371"/>
          </a:xfrm>
          <a:prstGeom prst="rect">
            <a:avLst/>
          </a:prstGeom>
        </p:spPr>
        <p:txBody>
          <a:bodyPr anchor="t" rtlCol="false" tIns="0" lIns="0" bIns="0" rIns="0">
            <a:spAutoFit/>
          </a:bodyPr>
          <a:lstStyle/>
          <a:p>
            <a:pPr algn="ctr">
              <a:lnSpc>
                <a:spcPts val="3754"/>
              </a:lnSpc>
            </a:pPr>
            <a:r>
              <a:rPr lang="en-US" sz="2682">
                <a:solidFill>
                  <a:srgbClr val="957F3B"/>
                </a:solidFill>
                <a:latin typeface="HK Modular"/>
                <a:ea typeface="HK Modular"/>
                <a:cs typeface="HK Modular"/>
                <a:sym typeface="HK Modular"/>
              </a:rPr>
              <a:t>CRITERIOS DE ACEPTACION</a:t>
            </a:r>
          </a:p>
          <a:p>
            <a:pPr algn="ctr">
              <a:lnSpc>
                <a:spcPts val="3754"/>
              </a:lnSpc>
              <a:spcBef>
                <a:spcPct val="0"/>
              </a:spcBef>
            </a:pPr>
          </a:p>
        </p:txBody>
      </p:sp>
      <p:sp>
        <p:nvSpPr>
          <p:cNvPr name="TextBox 11" id="11"/>
          <p:cNvSpPr txBox="true"/>
          <p:nvPr/>
        </p:nvSpPr>
        <p:spPr>
          <a:xfrm rot="0">
            <a:off x="7422457" y="7447812"/>
            <a:ext cx="4186081" cy="1418371"/>
          </a:xfrm>
          <a:prstGeom prst="rect">
            <a:avLst/>
          </a:prstGeom>
        </p:spPr>
        <p:txBody>
          <a:bodyPr anchor="t" rtlCol="false" tIns="0" lIns="0" bIns="0" rIns="0">
            <a:spAutoFit/>
          </a:bodyPr>
          <a:lstStyle/>
          <a:p>
            <a:pPr algn="ctr">
              <a:lnSpc>
                <a:spcPts val="3754"/>
              </a:lnSpc>
            </a:pPr>
            <a:r>
              <a:rPr lang="en-US" sz="2682">
                <a:solidFill>
                  <a:srgbClr val="957F3B"/>
                </a:solidFill>
                <a:latin typeface="HK Modular"/>
                <a:ea typeface="HK Modular"/>
                <a:cs typeface="HK Modular"/>
                <a:sym typeface="HK Modular"/>
              </a:rPr>
              <a:t>PRINCIPIOS DE LAS PRUEBAS</a:t>
            </a:r>
          </a:p>
          <a:p>
            <a:pPr algn="ctr">
              <a:lnSpc>
                <a:spcPts val="3754"/>
              </a:lnSpc>
              <a:spcBef>
                <a:spcPct val="0"/>
              </a:spcBef>
            </a:pPr>
          </a:p>
        </p:txBody>
      </p:sp>
      <p:sp>
        <p:nvSpPr>
          <p:cNvPr name="TextBox 12" id="12"/>
          <p:cNvSpPr txBox="true"/>
          <p:nvPr/>
        </p:nvSpPr>
        <p:spPr>
          <a:xfrm rot="0">
            <a:off x="13586937" y="7447812"/>
            <a:ext cx="4186081" cy="1418371"/>
          </a:xfrm>
          <a:prstGeom prst="rect">
            <a:avLst/>
          </a:prstGeom>
        </p:spPr>
        <p:txBody>
          <a:bodyPr anchor="t" rtlCol="false" tIns="0" lIns="0" bIns="0" rIns="0">
            <a:spAutoFit/>
          </a:bodyPr>
          <a:lstStyle/>
          <a:p>
            <a:pPr algn="ctr">
              <a:lnSpc>
                <a:spcPts val="3754"/>
              </a:lnSpc>
            </a:pPr>
            <a:r>
              <a:rPr lang="en-US" sz="2682">
                <a:solidFill>
                  <a:srgbClr val="957F3B"/>
                </a:solidFill>
                <a:latin typeface="HK Modular"/>
                <a:ea typeface="HK Modular"/>
                <a:cs typeface="HK Modular"/>
                <a:sym typeface="HK Modular"/>
              </a:rPr>
              <a:t>PARTES DE UNA PRUEBA</a:t>
            </a:r>
          </a:p>
          <a:p>
            <a:pPr algn="ctr">
              <a:lnSpc>
                <a:spcPts val="3754"/>
              </a:lnSpc>
              <a:spcBef>
                <a:spcPct val="0"/>
              </a:spcBef>
            </a:pPr>
          </a:p>
        </p:txBody>
      </p:sp>
      <p:sp>
        <p:nvSpPr>
          <p:cNvPr name="Freeform 13" id="13"/>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8"/>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02756" y="3747120"/>
            <a:ext cx="3309147" cy="5120538"/>
          </a:xfrm>
          <a:custGeom>
            <a:avLst/>
            <a:gdLst/>
            <a:ahLst/>
            <a:cxnLst/>
            <a:rect r="r" b="b" t="t" l="l"/>
            <a:pathLst>
              <a:path h="5120538" w="3309147">
                <a:moveTo>
                  <a:pt x="0" y="0"/>
                </a:moveTo>
                <a:lnTo>
                  <a:pt x="3309148" y="0"/>
                </a:lnTo>
                <a:lnTo>
                  <a:pt x="3309148" y="5120537"/>
                </a:lnTo>
                <a:lnTo>
                  <a:pt x="0" y="51205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64499" y="2194248"/>
            <a:ext cx="13577736" cy="1552871"/>
          </a:xfrm>
          <a:prstGeom prst="rect">
            <a:avLst/>
          </a:prstGeom>
        </p:spPr>
        <p:txBody>
          <a:bodyPr anchor="t" rtlCol="false" tIns="0" lIns="0" bIns="0" rIns="0">
            <a:spAutoFit/>
          </a:bodyPr>
          <a:lstStyle/>
          <a:p>
            <a:pPr algn="ctr">
              <a:lnSpc>
                <a:spcPts val="6200"/>
              </a:lnSpc>
            </a:pPr>
            <a:r>
              <a:rPr lang="en-US" sz="4428">
                <a:solidFill>
                  <a:srgbClr val="957F3B"/>
                </a:solidFill>
                <a:latin typeface="HK Modular"/>
                <a:ea typeface="HK Modular"/>
                <a:cs typeface="HK Modular"/>
                <a:sym typeface="HK Modular"/>
              </a:rPr>
              <a:t>CRITERIOS DE ACEPTACION</a:t>
            </a:r>
          </a:p>
          <a:p>
            <a:pPr algn="ctr">
              <a:lnSpc>
                <a:spcPts val="6200"/>
              </a:lnSpc>
              <a:spcBef>
                <a:spcPct val="0"/>
              </a:spcBef>
            </a:pPr>
          </a:p>
        </p:txBody>
      </p:sp>
      <p:sp>
        <p:nvSpPr>
          <p:cNvPr name="TextBox 8" id="8"/>
          <p:cNvSpPr txBox="true"/>
          <p:nvPr/>
        </p:nvSpPr>
        <p:spPr>
          <a:xfrm rot="0">
            <a:off x="6735921" y="3632668"/>
            <a:ext cx="10865702" cy="1135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Son un conjunto de condiciones o reglas que una funcionalidad debe cumplir para considerarse terminada y aceptada por el usuario, el cliente o el Product owner (Dueño del Producto)</a:t>
            </a:r>
          </a:p>
        </p:txBody>
      </p:sp>
      <p:sp>
        <p:nvSpPr>
          <p:cNvPr name="TextBox 9" id="9"/>
          <p:cNvSpPr txBox="true"/>
          <p:nvPr/>
        </p:nvSpPr>
        <p:spPr>
          <a:xfrm rot="0">
            <a:off x="6923600" y="6507554"/>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escriben desde la perspectiva del usuario final</a:t>
            </a:r>
          </a:p>
        </p:txBody>
      </p:sp>
      <p:sp>
        <p:nvSpPr>
          <p:cNvPr name="TextBox 10" id="10"/>
          <p:cNvSpPr txBox="true"/>
          <p:nvPr/>
        </p:nvSpPr>
        <p:spPr>
          <a:xfrm rot="0">
            <a:off x="7850867" y="5521121"/>
            <a:ext cx="9011167"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CARACTETISTICAS</a:t>
            </a:r>
          </a:p>
          <a:p>
            <a:pPr algn="ctr">
              <a:lnSpc>
                <a:spcPts val="4114"/>
              </a:lnSpc>
              <a:spcBef>
                <a:spcPct val="0"/>
              </a:spcBef>
            </a:pPr>
          </a:p>
        </p:txBody>
      </p:sp>
      <p:sp>
        <p:nvSpPr>
          <p:cNvPr name="TextBox 11" id="11"/>
          <p:cNvSpPr txBox="true"/>
          <p:nvPr/>
        </p:nvSpPr>
        <p:spPr>
          <a:xfrm rot="0">
            <a:off x="6923600" y="7130983"/>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Definen que significa listo (Definition of Done) para un requisito</a:t>
            </a:r>
          </a:p>
        </p:txBody>
      </p:sp>
      <p:sp>
        <p:nvSpPr>
          <p:cNvPr name="TextBox 12" id="12"/>
          <p:cNvSpPr txBox="true"/>
          <p:nvPr/>
        </p:nvSpPr>
        <p:spPr>
          <a:xfrm rot="0">
            <a:off x="6923600" y="7652599"/>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Son medibles y verificables, de forma que se pueda comprobar con pruebas</a:t>
            </a:r>
          </a:p>
        </p:txBody>
      </p:sp>
      <p:sp>
        <p:nvSpPr>
          <p:cNvPr name="TextBox 13" id="13"/>
          <p:cNvSpPr txBox="true"/>
          <p:nvPr/>
        </p:nvSpPr>
        <p:spPr>
          <a:xfrm rot="0">
            <a:off x="6923600" y="8183740"/>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Sirven como base para las pruebas</a:t>
            </a:r>
          </a:p>
        </p:txBody>
      </p:sp>
      <p:sp>
        <p:nvSpPr>
          <p:cNvPr name="Freeform 14" id="14"/>
          <p:cNvSpPr/>
          <p:nvPr/>
        </p:nvSpPr>
        <p:spPr>
          <a:xfrm flipH="false" flipV="false" rot="0">
            <a:off x="6425542" y="6449248"/>
            <a:ext cx="620758" cy="531524"/>
          </a:xfrm>
          <a:custGeom>
            <a:avLst/>
            <a:gdLst/>
            <a:ahLst/>
            <a:cxnLst/>
            <a:rect r="r" b="b" t="t" l="l"/>
            <a:pathLst>
              <a:path h="531524" w="620758">
                <a:moveTo>
                  <a:pt x="0" y="0"/>
                </a:moveTo>
                <a:lnTo>
                  <a:pt x="620758" y="0"/>
                </a:lnTo>
                <a:lnTo>
                  <a:pt x="620758" y="531525"/>
                </a:lnTo>
                <a:lnTo>
                  <a:pt x="0" y="531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6425542" y="7076023"/>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425542" y="7653694"/>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6425542" y="8231365"/>
            <a:ext cx="620758" cy="531524"/>
          </a:xfrm>
          <a:custGeom>
            <a:avLst/>
            <a:gdLst/>
            <a:ahLst/>
            <a:cxnLst/>
            <a:rect r="r" b="b" t="t" l="l"/>
            <a:pathLst>
              <a:path h="531524" w="620758">
                <a:moveTo>
                  <a:pt x="0" y="0"/>
                </a:moveTo>
                <a:lnTo>
                  <a:pt x="620758" y="0"/>
                </a:lnTo>
                <a:lnTo>
                  <a:pt x="620758" y="531525"/>
                </a:lnTo>
                <a:lnTo>
                  <a:pt x="0" y="531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963783" y="3553688"/>
            <a:ext cx="3309147" cy="5120538"/>
          </a:xfrm>
          <a:custGeom>
            <a:avLst/>
            <a:gdLst/>
            <a:ahLst/>
            <a:cxnLst/>
            <a:rect r="r" b="b" t="t" l="l"/>
            <a:pathLst>
              <a:path h="5120538" w="3309147">
                <a:moveTo>
                  <a:pt x="0" y="0"/>
                </a:moveTo>
                <a:lnTo>
                  <a:pt x="3309147" y="0"/>
                </a:lnTo>
                <a:lnTo>
                  <a:pt x="3309147" y="5120537"/>
                </a:lnTo>
                <a:lnTo>
                  <a:pt x="0" y="51205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64499" y="2194248"/>
            <a:ext cx="13577736" cy="1552871"/>
          </a:xfrm>
          <a:prstGeom prst="rect">
            <a:avLst/>
          </a:prstGeom>
        </p:spPr>
        <p:txBody>
          <a:bodyPr anchor="t" rtlCol="false" tIns="0" lIns="0" bIns="0" rIns="0">
            <a:spAutoFit/>
          </a:bodyPr>
          <a:lstStyle/>
          <a:p>
            <a:pPr algn="ctr">
              <a:lnSpc>
                <a:spcPts val="6200"/>
              </a:lnSpc>
            </a:pPr>
            <a:r>
              <a:rPr lang="en-US" sz="4428">
                <a:solidFill>
                  <a:srgbClr val="957F3B"/>
                </a:solidFill>
                <a:latin typeface="HK Modular"/>
                <a:ea typeface="HK Modular"/>
                <a:cs typeface="HK Modular"/>
                <a:sym typeface="HK Modular"/>
              </a:rPr>
              <a:t>CRITERIOS DE ACEPTACION</a:t>
            </a:r>
          </a:p>
          <a:p>
            <a:pPr algn="ctr">
              <a:lnSpc>
                <a:spcPts val="6200"/>
              </a:lnSpc>
              <a:spcBef>
                <a:spcPct val="0"/>
              </a:spcBef>
            </a:pPr>
          </a:p>
        </p:txBody>
      </p:sp>
      <p:sp>
        <p:nvSpPr>
          <p:cNvPr name="TextBox 8" id="8"/>
          <p:cNvSpPr txBox="true"/>
          <p:nvPr/>
        </p:nvSpPr>
        <p:spPr>
          <a:xfrm rot="0">
            <a:off x="7956608" y="3874597"/>
            <a:ext cx="9011167"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EJEMPLOS</a:t>
            </a:r>
          </a:p>
        </p:txBody>
      </p:sp>
      <p:sp>
        <p:nvSpPr>
          <p:cNvPr name="TextBox 9" id="9"/>
          <p:cNvSpPr txBox="true"/>
          <p:nvPr/>
        </p:nvSpPr>
        <p:spPr>
          <a:xfrm rot="0">
            <a:off x="7029340" y="4664106"/>
            <a:ext cx="10865702" cy="2659979"/>
          </a:xfrm>
          <a:prstGeom prst="rect">
            <a:avLst/>
          </a:prstGeom>
        </p:spPr>
        <p:txBody>
          <a:bodyPr anchor="t" rtlCol="false" tIns="0" lIns="0" bIns="0" rIns="0">
            <a:spAutoFit/>
          </a:bodyPr>
          <a:lstStyle/>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sistema debe permitir ingresar un correo y una contraseña validas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 Si las credenciales son correctas, el usuario debe ser redirigido a la pagina principal.</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Si las credenciales son incorrectas, debe mostrar un mensaje: “Usuario o contraseña incorrectos”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campo de contraseña debe ocultar los caracteres escritos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Debe existir un enlace para recuperar la contraseña</a:t>
            </a:r>
          </a:p>
        </p:txBody>
      </p:sp>
      <p:sp>
        <p:nvSpPr>
          <p:cNvPr name="Freeform 10" id="10"/>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2024" y="4002049"/>
            <a:ext cx="3729604" cy="3729604"/>
          </a:xfrm>
          <a:custGeom>
            <a:avLst/>
            <a:gdLst/>
            <a:ahLst/>
            <a:cxnLst/>
            <a:rect r="r" b="b" t="t" l="l"/>
            <a:pathLst>
              <a:path h="3729604" w="3729604">
                <a:moveTo>
                  <a:pt x="0" y="0"/>
                </a:moveTo>
                <a:lnTo>
                  <a:pt x="3729604" y="0"/>
                </a:lnTo>
                <a:lnTo>
                  <a:pt x="3729604" y="3729604"/>
                </a:lnTo>
                <a:lnTo>
                  <a:pt x="0" y="3729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62024" y="2194248"/>
            <a:ext cx="15906948" cy="857781"/>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PRINCIPIOS DE LAS PRUEBAS</a:t>
            </a:r>
          </a:p>
        </p:txBody>
      </p:sp>
      <p:sp>
        <p:nvSpPr>
          <p:cNvPr name="TextBox 8" id="8"/>
          <p:cNvSpPr txBox="true"/>
          <p:nvPr/>
        </p:nvSpPr>
        <p:spPr>
          <a:xfrm rot="0">
            <a:off x="6151906" y="3772868"/>
            <a:ext cx="10865702" cy="4945979"/>
          </a:xfrm>
          <a:prstGeom prst="rect">
            <a:avLst/>
          </a:prstGeom>
        </p:spPr>
        <p:txBody>
          <a:bodyPr anchor="t" rtlCol="false" tIns="0" lIns="0" bIns="0" rIns="0">
            <a:spAutoFit/>
          </a:bodyPr>
          <a:lstStyle/>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La ejecucion de pruebas demuestra la presencia de defectos, no confirmar que no existen </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testing exhaustivo no es posible, no se pueden probar todas las combinaciones y acciones en todas las funcionalidades, debido a limitaciones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Las Pruebas Tempranas ahorran tiempo, recursos y dinero, detectando problemas antes del lanzamiento</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Agrupacion de defectos - 80% de las consecuencias provienen del 20% de las causas - no todos los componentes tienen la misma importancia</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Paradoja del pesticida - repetir las mismas pruebas una y otra vez no disminuira su efectividad en la deteccion de errores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testing depende del contexto - Se elige segun el sistema y los entornos que decidan verificar (sistema medico vs un e-commerce)</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Falacia de ausencia de incidentes</a:t>
            </a:r>
          </a:p>
        </p:txBody>
      </p:sp>
      <p:sp>
        <p:nvSpPr>
          <p:cNvPr name="TextBox 9" id="9"/>
          <p:cNvSpPr txBox="true"/>
          <p:nvPr/>
        </p:nvSpPr>
        <p:spPr>
          <a:xfrm rot="0">
            <a:off x="7850867" y="9079537"/>
            <a:ext cx="8205761" cy="938070"/>
          </a:xfrm>
          <a:prstGeom prst="rect">
            <a:avLst/>
          </a:prstGeom>
        </p:spPr>
        <p:txBody>
          <a:bodyPr anchor="t" rtlCol="false" tIns="0" lIns="0" bIns="0" rIns="0">
            <a:spAutoFit/>
          </a:bodyPr>
          <a:lstStyle/>
          <a:p>
            <a:pPr algn="ctr">
              <a:lnSpc>
                <a:spcPts val="3747"/>
              </a:lnSpc>
              <a:spcBef>
                <a:spcPct val="0"/>
              </a:spcBef>
            </a:pPr>
            <a:r>
              <a:rPr lang="en-US" sz="2676">
                <a:solidFill>
                  <a:srgbClr val="99C5FF"/>
                </a:solidFill>
                <a:latin typeface="HK Modular"/>
                <a:ea typeface="HK Modular"/>
                <a:cs typeface="HK Modular"/>
                <a:sym typeface="HK Modular"/>
              </a:rPr>
              <a:t>REVISEN CONSTANTEMENTE SU ESTRATEGIA DE PRUEBAS</a:t>
            </a:r>
          </a:p>
        </p:txBody>
      </p:sp>
      <p:sp>
        <p:nvSpPr>
          <p:cNvPr name="Freeform 10" id="10"/>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95623" y="4361739"/>
            <a:ext cx="6374808" cy="4478171"/>
          </a:xfrm>
          <a:custGeom>
            <a:avLst/>
            <a:gdLst/>
            <a:ahLst/>
            <a:cxnLst/>
            <a:rect r="r" b="b" t="t" l="l"/>
            <a:pathLst>
              <a:path h="4478171" w="6374808">
                <a:moveTo>
                  <a:pt x="0" y="0"/>
                </a:moveTo>
                <a:lnTo>
                  <a:pt x="6374808" y="0"/>
                </a:lnTo>
                <a:lnTo>
                  <a:pt x="6374808" y="4478172"/>
                </a:lnTo>
                <a:lnTo>
                  <a:pt x="0" y="4478172"/>
                </a:lnTo>
                <a:lnTo>
                  <a:pt x="0" y="0"/>
                </a:lnTo>
                <a:close/>
              </a:path>
            </a:pathLst>
          </a:custGeom>
          <a:blipFill>
            <a:blip r:embed="rId3"/>
            <a:stretch>
              <a:fillRect l="0" t="0" r="0" b="0"/>
            </a:stretch>
          </a:blipFill>
        </p:spPr>
      </p:sp>
      <p:sp>
        <p:nvSpPr>
          <p:cNvPr name="TextBox 7" id="7"/>
          <p:cNvSpPr txBox="true"/>
          <p:nvPr/>
        </p:nvSpPr>
        <p:spPr>
          <a:xfrm rot="0">
            <a:off x="1562024" y="2194248"/>
            <a:ext cx="15906948" cy="1747534"/>
          </a:xfrm>
          <a:prstGeom prst="rect">
            <a:avLst/>
          </a:prstGeom>
        </p:spPr>
        <p:txBody>
          <a:bodyPr anchor="t" rtlCol="false" tIns="0" lIns="0" bIns="0" rIns="0">
            <a:spAutoFit/>
          </a:bodyPr>
          <a:lstStyle/>
          <a:p>
            <a:pPr algn="ctr">
              <a:lnSpc>
                <a:spcPts val="7012"/>
              </a:lnSpc>
            </a:pPr>
            <a:r>
              <a:rPr lang="en-US" sz="5008">
                <a:solidFill>
                  <a:srgbClr val="99B9FF"/>
                </a:solidFill>
                <a:latin typeface="HK Modular"/>
                <a:ea typeface="HK Modular"/>
                <a:cs typeface="HK Modular"/>
                <a:sym typeface="HK Modular"/>
              </a:rPr>
              <a:t>PARTES DE UNA PRUEBA</a:t>
            </a:r>
          </a:p>
          <a:p>
            <a:pPr algn="ctr">
              <a:lnSpc>
                <a:spcPts val="7012"/>
              </a:lnSpc>
              <a:spcBef>
                <a:spcPct val="0"/>
              </a:spcBef>
            </a:pPr>
          </a:p>
        </p:txBody>
      </p:sp>
      <p:sp>
        <p:nvSpPr>
          <p:cNvPr name="TextBox 8" id="8"/>
          <p:cNvSpPr txBox="true"/>
          <p:nvPr/>
        </p:nvSpPr>
        <p:spPr>
          <a:xfrm rot="0">
            <a:off x="10339205" y="3693945"/>
            <a:ext cx="4186081" cy="941922"/>
          </a:xfrm>
          <a:prstGeom prst="rect">
            <a:avLst/>
          </a:prstGeom>
        </p:spPr>
        <p:txBody>
          <a:bodyPr anchor="t" rtlCol="false" tIns="0" lIns="0" bIns="0" rIns="0">
            <a:spAutoFit/>
          </a:bodyPr>
          <a:lstStyle/>
          <a:p>
            <a:pPr algn="ctr">
              <a:lnSpc>
                <a:spcPts val="3754"/>
              </a:lnSpc>
            </a:pPr>
            <a:r>
              <a:rPr lang="en-US" sz="2682">
                <a:solidFill>
                  <a:srgbClr val="957F3B"/>
                </a:solidFill>
                <a:latin typeface="HK Modular"/>
                <a:ea typeface="HK Modular"/>
                <a:cs typeface="HK Modular"/>
                <a:sym typeface="HK Modular"/>
              </a:rPr>
              <a:t>ARRANGE</a:t>
            </a:r>
          </a:p>
          <a:p>
            <a:pPr algn="ctr">
              <a:lnSpc>
                <a:spcPts val="3754"/>
              </a:lnSpc>
              <a:spcBef>
                <a:spcPct val="0"/>
              </a:spcBef>
            </a:pPr>
          </a:p>
        </p:txBody>
      </p:sp>
      <p:sp>
        <p:nvSpPr>
          <p:cNvPr name="TextBox 9" id="9"/>
          <p:cNvSpPr txBox="true"/>
          <p:nvPr/>
        </p:nvSpPr>
        <p:spPr>
          <a:xfrm rot="0">
            <a:off x="10339205" y="5933847"/>
            <a:ext cx="4186081" cy="941922"/>
          </a:xfrm>
          <a:prstGeom prst="rect">
            <a:avLst/>
          </a:prstGeom>
        </p:spPr>
        <p:txBody>
          <a:bodyPr anchor="t" rtlCol="false" tIns="0" lIns="0" bIns="0" rIns="0">
            <a:spAutoFit/>
          </a:bodyPr>
          <a:lstStyle/>
          <a:p>
            <a:pPr algn="ctr">
              <a:lnSpc>
                <a:spcPts val="3754"/>
              </a:lnSpc>
            </a:pPr>
            <a:r>
              <a:rPr lang="en-US" sz="2682">
                <a:solidFill>
                  <a:srgbClr val="957F3B"/>
                </a:solidFill>
                <a:latin typeface="HK Modular"/>
                <a:ea typeface="HK Modular"/>
                <a:cs typeface="HK Modular"/>
                <a:sym typeface="HK Modular"/>
              </a:rPr>
              <a:t>ACT</a:t>
            </a:r>
          </a:p>
          <a:p>
            <a:pPr algn="ctr">
              <a:lnSpc>
                <a:spcPts val="3754"/>
              </a:lnSpc>
              <a:spcBef>
                <a:spcPct val="0"/>
              </a:spcBef>
            </a:pPr>
          </a:p>
        </p:txBody>
      </p:sp>
      <p:sp>
        <p:nvSpPr>
          <p:cNvPr name="TextBox 10" id="10"/>
          <p:cNvSpPr txBox="true"/>
          <p:nvPr/>
        </p:nvSpPr>
        <p:spPr>
          <a:xfrm rot="0">
            <a:off x="10459785" y="7991949"/>
            <a:ext cx="4186081" cy="941922"/>
          </a:xfrm>
          <a:prstGeom prst="rect">
            <a:avLst/>
          </a:prstGeom>
        </p:spPr>
        <p:txBody>
          <a:bodyPr anchor="t" rtlCol="false" tIns="0" lIns="0" bIns="0" rIns="0">
            <a:spAutoFit/>
          </a:bodyPr>
          <a:lstStyle/>
          <a:p>
            <a:pPr algn="ctr">
              <a:lnSpc>
                <a:spcPts val="3754"/>
              </a:lnSpc>
            </a:pPr>
            <a:r>
              <a:rPr lang="en-US" sz="2682">
                <a:solidFill>
                  <a:srgbClr val="957F3B"/>
                </a:solidFill>
                <a:latin typeface="HK Modular"/>
                <a:ea typeface="HK Modular"/>
                <a:cs typeface="HK Modular"/>
                <a:sym typeface="HK Modular"/>
              </a:rPr>
              <a:t>ASSERT</a:t>
            </a:r>
          </a:p>
          <a:p>
            <a:pPr algn="ctr">
              <a:lnSpc>
                <a:spcPts val="3754"/>
              </a:lnSpc>
              <a:spcBef>
                <a:spcPct val="0"/>
              </a:spcBef>
            </a:pPr>
          </a:p>
        </p:txBody>
      </p:sp>
      <p:sp>
        <p:nvSpPr>
          <p:cNvPr name="TextBox 11" id="11"/>
          <p:cNvSpPr txBox="true"/>
          <p:nvPr/>
        </p:nvSpPr>
        <p:spPr>
          <a:xfrm rot="0">
            <a:off x="7784626" y="4388521"/>
            <a:ext cx="9536398" cy="754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prepara el escenario de prueba - Aqui se crean los objetos, se inicializan datos de entrada, se configuran mocks, etc</a:t>
            </a:r>
          </a:p>
        </p:txBody>
      </p:sp>
      <p:sp>
        <p:nvSpPr>
          <p:cNvPr name="TextBox 12" id="12"/>
          <p:cNvSpPr txBox="true"/>
          <p:nvPr/>
        </p:nvSpPr>
        <p:spPr>
          <a:xfrm rot="0">
            <a:off x="7850867" y="6553200"/>
            <a:ext cx="9838512" cy="754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ejecuta la accion que se quiere probar - Normalmente es la llamada a un metodo o a una funcionalidad concreta</a:t>
            </a:r>
          </a:p>
        </p:txBody>
      </p:sp>
      <p:sp>
        <p:nvSpPr>
          <p:cNvPr name="TextBox 13" id="13"/>
          <p:cNvSpPr txBox="true"/>
          <p:nvPr/>
        </p:nvSpPr>
        <p:spPr>
          <a:xfrm rot="0">
            <a:off x="7784626" y="8624027"/>
            <a:ext cx="9838512" cy="754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validan los resultados obtenidos contra los resultados esperados - aca se realizan las verificacciones assert, assertTrue, assertEquals</a:t>
            </a:r>
          </a:p>
        </p:txBody>
      </p:sp>
      <p:sp>
        <p:nvSpPr>
          <p:cNvPr name="Freeform 14" id="14"/>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804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RECUERDEN</a:t>
            </a:r>
          </a:p>
        </p:txBody>
      </p:sp>
      <p:sp>
        <p:nvSpPr>
          <p:cNvPr name="Freeform 7" id="7"/>
          <p:cNvSpPr/>
          <p:nvPr/>
        </p:nvSpPr>
        <p:spPr>
          <a:xfrm flipH="false" flipV="false" rot="0">
            <a:off x="6884668" y="3131314"/>
            <a:ext cx="4731292" cy="4731292"/>
          </a:xfrm>
          <a:custGeom>
            <a:avLst/>
            <a:gdLst/>
            <a:ahLst/>
            <a:cxnLst/>
            <a:rect r="r" b="b" t="t" l="l"/>
            <a:pathLst>
              <a:path h="4731292" w="4731292">
                <a:moveTo>
                  <a:pt x="0" y="0"/>
                </a:moveTo>
                <a:lnTo>
                  <a:pt x="4731292" y="0"/>
                </a:lnTo>
                <a:lnTo>
                  <a:pt x="4731292" y="4731292"/>
                </a:lnTo>
                <a:lnTo>
                  <a:pt x="0" y="4731292"/>
                </a:lnTo>
                <a:lnTo>
                  <a:pt x="0" y="0"/>
                </a:lnTo>
                <a:close/>
              </a:path>
            </a:pathLst>
          </a:custGeom>
          <a:blipFill>
            <a:blip r:embed="rId3"/>
            <a:stretch>
              <a:fillRect l="0" t="0" r="0" b="0"/>
            </a:stretch>
          </a:blipFill>
        </p:spPr>
      </p:sp>
      <p:sp>
        <p:nvSpPr>
          <p:cNvPr name="TextBox 8" id="8"/>
          <p:cNvSpPr txBox="true"/>
          <p:nvPr/>
        </p:nvSpPr>
        <p:spPr>
          <a:xfrm rot="0">
            <a:off x="2850208" y="7976845"/>
            <a:ext cx="12587585" cy="18294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Una buena prueba  se ejecuta rapidamente</a:t>
            </a:r>
          </a:p>
          <a:p>
            <a:pPr algn="ctr">
              <a:lnSpc>
                <a:spcPts val="3639"/>
              </a:lnSpc>
            </a:pPr>
            <a:r>
              <a:rPr lang="en-US" sz="2599">
                <a:solidFill>
                  <a:srgbClr val="FFFFFF"/>
                </a:solidFill>
                <a:latin typeface="Poppins"/>
                <a:ea typeface="Poppins"/>
                <a:cs typeface="Poppins"/>
                <a:sym typeface="Poppins"/>
              </a:rPr>
              <a:t>Se programan rapido</a:t>
            </a:r>
          </a:p>
          <a:p>
            <a:pPr algn="ctr">
              <a:lnSpc>
                <a:spcPts val="3639"/>
              </a:lnSpc>
            </a:pPr>
            <a:r>
              <a:rPr lang="en-US" sz="2599">
                <a:solidFill>
                  <a:srgbClr val="FFFFFF"/>
                </a:solidFill>
                <a:latin typeface="Poppins"/>
                <a:ea typeface="Poppins"/>
                <a:cs typeface="Poppins"/>
                <a:sym typeface="Poppins"/>
              </a:rPr>
              <a:t>No dependen de elementos externos</a:t>
            </a:r>
          </a:p>
          <a:p>
            <a:pPr algn="ctr">
              <a:lnSpc>
                <a:spcPts val="3639"/>
              </a:lnSpc>
            </a:pPr>
            <a:r>
              <a:rPr lang="en-US" sz="2599">
                <a:solidFill>
                  <a:srgbClr val="FFFFFF"/>
                </a:solidFill>
                <a:latin typeface="Poppins"/>
                <a:ea typeface="Poppins"/>
                <a:cs typeface="Poppins"/>
                <a:sym typeface="Poppins"/>
              </a:rPr>
              <a:t>No dependen de otras pruebas unitarias</a:t>
            </a:r>
          </a:p>
        </p:txBody>
      </p:sp>
      <p:sp>
        <p:nvSpPr>
          <p:cNvPr name="Freeform 9" id="9"/>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COBERTURA DE PRUEBAS</a:t>
            </a:r>
          </a:p>
        </p:txBody>
      </p:sp>
      <p:sp>
        <p:nvSpPr>
          <p:cNvPr name="Freeform 13" id="13"/>
          <p:cNvSpPr/>
          <p:nvPr/>
        </p:nvSpPr>
        <p:spPr>
          <a:xfrm flipH="false" flipV="false" rot="0">
            <a:off x="7575020" y="0"/>
            <a:ext cx="3528962" cy="3528962"/>
          </a:xfrm>
          <a:custGeom>
            <a:avLst/>
            <a:gdLst/>
            <a:ahLst/>
            <a:cxnLst/>
            <a:rect r="r" b="b" t="t" l="l"/>
            <a:pathLst>
              <a:path h="3528962" w="3528962">
                <a:moveTo>
                  <a:pt x="0" y="0"/>
                </a:moveTo>
                <a:lnTo>
                  <a:pt x="3528962" y="0"/>
                </a:lnTo>
                <a:lnTo>
                  <a:pt x="3528962" y="3528962"/>
                </a:lnTo>
                <a:lnTo>
                  <a:pt x="0" y="3528962"/>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804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¿QUE ES LA COBERTURA DE PRUEBAS?</a:t>
            </a:r>
          </a:p>
        </p:txBody>
      </p:sp>
      <p:sp>
        <p:nvSpPr>
          <p:cNvPr name="TextBox 7" id="7"/>
          <p:cNvSpPr txBox="true"/>
          <p:nvPr/>
        </p:nvSpPr>
        <p:spPr>
          <a:xfrm rot="0">
            <a:off x="2393025" y="4491025"/>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de las medidas de la calidad de los tests que nos dice cuanto codigo se ha probado</a:t>
            </a:r>
          </a:p>
        </p:txBody>
      </p:sp>
      <p:sp>
        <p:nvSpPr>
          <p:cNvPr name="TextBox 8" id="8"/>
          <p:cNvSpPr txBox="true"/>
          <p:nvPr/>
        </p:nvSpPr>
        <p:spPr>
          <a:xfrm rot="0">
            <a:off x="2283658" y="5550285"/>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Define ciertas entidades del sistema con la intencion de cubrirlas con pruebas, siendo una forma de indicar cuanto hemos probado lo suficiente y nos da ideas de que mas probar asi ampliando la cobertura</a:t>
            </a:r>
          </a:p>
        </p:txBody>
      </p:sp>
      <p:sp>
        <p:nvSpPr>
          <p:cNvPr name="TextBox 9" id="9"/>
          <p:cNvSpPr txBox="true"/>
          <p:nvPr/>
        </p:nvSpPr>
        <p:spPr>
          <a:xfrm rot="0">
            <a:off x="2283658" y="7466862"/>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TENER UN CIERTO NIVEL DE COBERTURA ES UN INDICADOR DE LA CALIDAD DE LAS PRUEBAS, PERO NUNCA ES UN INDICADOR DE LA CALIDAD DEL SISTEMA, NI TAMPOCO GARANTIZA QUE TODO HALLA SIDO PROBADO</a:t>
            </a:r>
          </a:p>
        </p:txBody>
      </p:sp>
      <p:sp>
        <p:nvSpPr>
          <p:cNvPr name="Freeform 10" id="10"/>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058445" y="1717563"/>
            <a:ext cx="1676857" cy="1676857"/>
          </a:xfrm>
          <a:custGeom>
            <a:avLst/>
            <a:gdLst/>
            <a:ahLst/>
            <a:cxnLst/>
            <a:rect r="r" b="b" t="t" l="l"/>
            <a:pathLst>
              <a:path h="1676857" w="1676857">
                <a:moveTo>
                  <a:pt x="0" y="0"/>
                </a:moveTo>
                <a:lnTo>
                  <a:pt x="1676857" y="0"/>
                </a:lnTo>
                <a:lnTo>
                  <a:pt x="1676857" y="1676858"/>
                </a:lnTo>
                <a:lnTo>
                  <a:pt x="0" y="1676858"/>
                </a:lnTo>
                <a:lnTo>
                  <a:pt x="0" y="0"/>
                </a:lnTo>
                <a:close/>
              </a:path>
            </a:pathLst>
          </a:custGeom>
          <a:blipFill>
            <a:blip r:embed="rId3"/>
            <a:stretch>
              <a:fillRect l="0" t="0" r="0" b="0"/>
            </a:stretch>
          </a:blipFill>
        </p:spPr>
      </p:sp>
      <p:sp>
        <p:nvSpPr>
          <p:cNvPr name="TextBox 7" id="7"/>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JUNIT</a:t>
            </a:r>
          </a:p>
        </p:txBody>
      </p:sp>
      <p:sp>
        <p:nvSpPr>
          <p:cNvPr name="TextBox 8" id="8"/>
          <p:cNvSpPr txBox="true"/>
          <p:nvPr/>
        </p:nvSpPr>
        <p:spPr>
          <a:xfrm rot="0">
            <a:off x="2495138" y="3894223"/>
            <a:ext cx="13720684"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el framework de pruebas unitarias mas usado en JAVA, permite automatizar pruebas de metodos y clases de manera mas rapida</a:t>
            </a:r>
          </a:p>
        </p:txBody>
      </p:sp>
      <p:sp>
        <p:nvSpPr>
          <p:cNvPr name="TextBox 9" id="9"/>
          <p:cNvSpPr txBox="true"/>
          <p:nvPr/>
        </p:nvSpPr>
        <p:spPr>
          <a:xfrm rot="0">
            <a:off x="4500274" y="6020785"/>
            <a:ext cx="9506186"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Usa anotaciones como @Test, @BeforeEach, @AfterEach, etc</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Ejecuta las Pruebas de forma aislada</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Verifica resultados con asserts (assertEquals, assertTrue, etc)</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Se integra con MAVEN, Gradle, IDEs y herramientas de CI/CD</a:t>
            </a:r>
          </a:p>
        </p:txBody>
      </p:sp>
      <p:sp>
        <p:nvSpPr>
          <p:cNvPr name="TextBox 10" id="10"/>
          <p:cNvSpPr txBox="true"/>
          <p:nvPr/>
        </p:nvSpPr>
        <p:spPr>
          <a:xfrm rot="0">
            <a:off x="4849897" y="5138417"/>
            <a:ext cx="9011167"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¿COMO FUNCIONA?</a:t>
            </a:r>
          </a:p>
          <a:p>
            <a:pPr algn="ctr">
              <a:lnSpc>
                <a:spcPts val="4114"/>
              </a:lnSpc>
              <a:spcBef>
                <a:spcPct val="0"/>
              </a:spcBef>
            </a:pPr>
          </a:p>
        </p:txBody>
      </p:sp>
      <p:sp>
        <p:nvSpPr>
          <p:cNvPr name="TextBox 11" id="11"/>
          <p:cNvSpPr txBox="true"/>
          <p:nvPr/>
        </p:nvSpPr>
        <p:spPr>
          <a:xfrm rot="0">
            <a:off x="4849897" y="8501694"/>
            <a:ext cx="9011167" cy="1555077"/>
          </a:xfrm>
          <a:prstGeom prst="rect">
            <a:avLst/>
          </a:prstGeom>
        </p:spPr>
        <p:txBody>
          <a:bodyPr anchor="t" rtlCol="false" tIns="0" lIns="0" bIns="0" rIns="0">
            <a:spAutoFit/>
          </a:bodyPr>
          <a:lstStyle/>
          <a:p>
            <a:pPr algn="ctr">
              <a:lnSpc>
                <a:spcPts val="4114"/>
              </a:lnSpc>
            </a:pPr>
            <a:r>
              <a:rPr lang="en-US" sz="2939">
                <a:solidFill>
                  <a:srgbClr val="957F3B"/>
                </a:solidFill>
                <a:latin typeface="HK Modular"/>
                <a:ea typeface="HK Modular"/>
                <a:cs typeface="HK Modular"/>
                <a:sym typeface="HK Modular"/>
              </a:rPr>
              <a:t>EN MAVEN SE EJECUTA CON MVN TEST</a:t>
            </a:r>
          </a:p>
          <a:p>
            <a:pPr algn="ctr">
              <a:lnSpc>
                <a:spcPts val="4114"/>
              </a:lnSpc>
              <a:spcBef>
                <a:spcPct val="0"/>
              </a:spcBef>
            </a:pPr>
          </a:p>
        </p:txBody>
      </p:sp>
      <p:sp>
        <p:nvSpPr>
          <p:cNvPr name="Freeform 12" id="12"/>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50275" y="5505287"/>
            <a:ext cx="5466918" cy="2490069"/>
          </a:xfrm>
          <a:custGeom>
            <a:avLst/>
            <a:gdLst/>
            <a:ahLst/>
            <a:cxnLst/>
            <a:rect r="r" b="b" t="t" l="l"/>
            <a:pathLst>
              <a:path h="2490069" w="5466918">
                <a:moveTo>
                  <a:pt x="0" y="0"/>
                </a:moveTo>
                <a:lnTo>
                  <a:pt x="5466918" y="0"/>
                </a:lnTo>
                <a:lnTo>
                  <a:pt x="5466918" y="2490069"/>
                </a:lnTo>
                <a:lnTo>
                  <a:pt x="0" y="2490069"/>
                </a:lnTo>
                <a:lnTo>
                  <a:pt x="0" y="0"/>
                </a:lnTo>
                <a:close/>
              </a:path>
            </a:pathLst>
          </a:custGeom>
          <a:blipFill>
            <a:blip r:embed="rId3"/>
            <a:stretch>
              <a:fillRect l="0" t="0" r="0" b="0"/>
            </a:stretch>
          </a:blipFill>
        </p:spPr>
      </p:sp>
      <p:sp>
        <p:nvSpPr>
          <p:cNvPr name="Freeform 7" id="7"/>
          <p:cNvSpPr/>
          <p:nvPr/>
        </p:nvSpPr>
        <p:spPr>
          <a:xfrm flipH="false" flipV="false" rot="0">
            <a:off x="11580926" y="5331438"/>
            <a:ext cx="5547996" cy="2837768"/>
          </a:xfrm>
          <a:custGeom>
            <a:avLst/>
            <a:gdLst/>
            <a:ahLst/>
            <a:cxnLst/>
            <a:rect r="r" b="b" t="t" l="l"/>
            <a:pathLst>
              <a:path h="2837768" w="5547996">
                <a:moveTo>
                  <a:pt x="0" y="0"/>
                </a:moveTo>
                <a:lnTo>
                  <a:pt x="5547996" y="0"/>
                </a:lnTo>
                <a:lnTo>
                  <a:pt x="5547996" y="2837768"/>
                </a:lnTo>
                <a:lnTo>
                  <a:pt x="0" y="2837768"/>
                </a:lnTo>
                <a:lnTo>
                  <a:pt x="0" y="0"/>
                </a:lnTo>
                <a:close/>
              </a:path>
            </a:pathLst>
          </a:custGeom>
          <a:blipFill>
            <a:blip r:embed="rId4"/>
            <a:stretch>
              <a:fillRect l="0" t="0" r="0" b="0"/>
            </a:stretch>
          </a:blipFill>
        </p:spPr>
      </p:sp>
      <p:sp>
        <p:nvSpPr>
          <p:cNvPr name="TextBox 8" id="8"/>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JUNIT</a:t>
            </a:r>
          </a:p>
        </p:txBody>
      </p:sp>
      <p:sp>
        <p:nvSpPr>
          <p:cNvPr name="TextBox 9" id="9"/>
          <p:cNvSpPr txBox="true"/>
          <p:nvPr/>
        </p:nvSpPr>
        <p:spPr>
          <a:xfrm rot="0">
            <a:off x="1779358" y="4363952"/>
            <a:ext cx="5808752"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DEPENDENCIA</a:t>
            </a:r>
          </a:p>
          <a:p>
            <a:pPr algn="ctr">
              <a:lnSpc>
                <a:spcPts val="4114"/>
              </a:lnSpc>
              <a:spcBef>
                <a:spcPct val="0"/>
              </a:spcBef>
            </a:pPr>
          </a:p>
        </p:txBody>
      </p:sp>
      <p:sp>
        <p:nvSpPr>
          <p:cNvPr name="TextBox 10" id="10"/>
          <p:cNvSpPr txBox="true"/>
          <p:nvPr/>
        </p:nvSpPr>
        <p:spPr>
          <a:xfrm rot="0">
            <a:off x="11320169" y="4363952"/>
            <a:ext cx="5808752"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EJEMPLO</a:t>
            </a:r>
          </a:p>
          <a:p>
            <a:pPr algn="ctr">
              <a:lnSpc>
                <a:spcPts val="4114"/>
              </a:lnSpc>
              <a:spcBef>
                <a:spcPct val="0"/>
              </a:spcBef>
            </a:pPr>
          </a:p>
        </p:txBody>
      </p:sp>
      <p:sp>
        <p:nvSpPr>
          <p:cNvPr name="Freeform 11" id="11"/>
          <p:cNvSpPr/>
          <p:nvPr/>
        </p:nvSpPr>
        <p:spPr>
          <a:xfrm flipH="false" flipV="false" rot="0">
            <a:off x="6058445" y="1717563"/>
            <a:ext cx="1676857" cy="1676857"/>
          </a:xfrm>
          <a:custGeom>
            <a:avLst/>
            <a:gdLst/>
            <a:ahLst/>
            <a:cxnLst/>
            <a:rect r="r" b="b" t="t" l="l"/>
            <a:pathLst>
              <a:path h="1676857" w="1676857">
                <a:moveTo>
                  <a:pt x="0" y="0"/>
                </a:moveTo>
                <a:lnTo>
                  <a:pt x="1676857" y="0"/>
                </a:lnTo>
                <a:lnTo>
                  <a:pt x="1676857" y="1676858"/>
                </a:lnTo>
                <a:lnTo>
                  <a:pt x="0" y="1676858"/>
                </a:lnTo>
                <a:lnTo>
                  <a:pt x="0" y="0"/>
                </a:lnTo>
                <a:close/>
              </a:path>
            </a:pathLst>
          </a:custGeom>
          <a:blipFill>
            <a:blip r:embed="rId5"/>
            <a:stretch>
              <a:fillRect l="0" t="0" r="0" b="0"/>
            </a:stretch>
          </a:blipFill>
        </p:spPr>
      </p:sp>
      <p:sp>
        <p:nvSpPr>
          <p:cNvPr name="Freeform 12" id="12"/>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6"/>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057265" y="2031449"/>
            <a:ext cx="2772791" cy="1039797"/>
          </a:xfrm>
          <a:custGeom>
            <a:avLst/>
            <a:gdLst/>
            <a:ahLst/>
            <a:cxnLst/>
            <a:rect r="r" b="b" t="t" l="l"/>
            <a:pathLst>
              <a:path h="1039797" w="2772791">
                <a:moveTo>
                  <a:pt x="0" y="0"/>
                </a:moveTo>
                <a:lnTo>
                  <a:pt x="2772792" y="0"/>
                </a:lnTo>
                <a:lnTo>
                  <a:pt x="2772792" y="1039796"/>
                </a:lnTo>
                <a:lnTo>
                  <a:pt x="0" y="1039796"/>
                </a:lnTo>
                <a:lnTo>
                  <a:pt x="0" y="0"/>
                </a:lnTo>
                <a:close/>
              </a:path>
            </a:pathLst>
          </a:custGeom>
          <a:blipFill>
            <a:blip r:embed="rId3"/>
            <a:stretch>
              <a:fillRect l="0" t="0" r="0" b="0"/>
            </a:stretch>
          </a:blipFill>
        </p:spPr>
      </p:sp>
      <p:sp>
        <p:nvSpPr>
          <p:cNvPr name="TextBox 7" id="7"/>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JACOCO</a:t>
            </a:r>
          </a:p>
        </p:txBody>
      </p:sp>
      <p:sp>
        <p:nvSpPr>
          <p:cNvPr name="TextBox 8" id="8"/>
          <p:cNvSpPr txBox="true"/>
          <p:nvPr/>
        </p:nvSpPr>
        <p:spPr>
          <a:xfrm rot="0">
            <a:off x="2495138" y="3894223"/>
            <a:ext cx="13720684"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herramiento que mide la cobertura del codigo de las pruebas, es el encargado de informar que porcentaje de codigo fue ejecutado durante las pruebas</a:t>
            </a:r>
          </a:p>
        </p:txBody>
      </p:sp>
      <p:sp>
        <p:nvSpPr>
          <p:cNvPr name="TextBox 9" id="9"/>
          <p:cNvSpPr txBox="true"/>
          <p:nvPr/>
        </p:nvSpPr>
        <p:spPr>
          <a:xfrm rot="0">
            <a:off x="4500274" y="6020785"/>
            <a:ext cx="9506186"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Se ejecuta junto con JUnit u otro framework de pruebas</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Instrumenta el bytecode para registrar que lineas, ramas y metodos se ejecutan</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Genera reportes en HTML, XML o CSV</a:t>
            </a:r>
          </a:p>
        </p:txBody>
      </p:sp>
      <p:sp>
        <p:nvSpPr>
          <p:cNvPr name="TextBox 10" id="10"/>
          <p:cNvSpPr txBox="true"/>
          <p:nvPr/>
        </p:nvSpPr>
        <p:spPr>
          <a:xfrm rot="0">
            <a:off x="4849897" y="5138417"/>
            <a:ext cx="9011167"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¿COMO FUNCIONA?</a:t>
            </a:r>
          </a:p>
          <a:p>
            <a:pPr algn="ctr">
              <a:lnSpc>
                <a:spcPts val="4114"/>
              </a:lnSpc>
              <a:spcBef>
                <a:spcPct val="0"/>
              </a:spcBef>
            </a:pPr>
          </a:p>
        </p:txBody>
      </p:sp>
      <p:sp>
        <p:nvSpPr>
          <p:cNvPr name="TextBox 11" id="11"/>
          <p:cNvSpPr txBox="true"/>
          <p:nvPr/>
        </p:nvSpPr>
        <p:spPr>
          <a:xfrm rot="0">
            <a:off x="4995293" y="8186914"/>
            <a:ext cx="9011167" cy="2076096"/>
          </a:xfrm>
          <a:prstGeom prst="rect">
            <a:avLst/>
          </a:prstGeom>
        </p:spPr>
        <p:txBody>
          <a:bodyPr anchor="t" rtlCol="false" tIns="0" lIns="0" bIns="0" rIns="0">
            <a:spAutoFit/>
          </a:bodyPr>
          <a:lstStyle/>
          <a:p>
            <a:pPr algn="ctr">
              <a:lnSpc>
                <a:spcPts val="4114"/>
              </a:lnSpc>
            </a:pPr>
            <a:r>
              <a:rPr lang="en-US" sz="2939">
                <a:solidFill>
                  <a:srgbClr val="957F3B"/>
                </a:solidFill>
                <a:latin typeface="HK Modular"/>
                <a:ea typeface="HK Modular"/>
                <a:cs typeface="HK Modular"/>
                <a:sym typeface="HK Modular"/>
              </a:rPr>
              <a:t>EN MAVEN SE EJECUTA CON MVN TEST Y SE VE EL REPORTE EN TARGET/SITE/JACOCO/INDEX.HTML</a:t>
            </a:r>
          </a:p>
          <a:p>
            <a:pPr algn="ctr">
              <a:lnSpc>
                <a:spcPts val="4114"/>
              </a:lnSpc>
              <a:spcBef>
                <a:spcPct val="0"/>
              </a:spcBef>
            </a:pPr>
          </a:p>
        </p:txBody>
      </p:sp>
      <p:sp>
        <p:nvSpPr>
          <p:cNvPr name="Freeform 12" id="12"/>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057265" y="2031449"/>
            <a:ext cx="2772791" cy="1039797"/>
          </a:xfrm>
          <a:custGeom>
            <a:avLst/>
            <a:gdLst/>
            <a:ahLst/>
            <a:cxnLst/>
            <a:rect r="r" b="b" t="t" l="l"/>
            <a:pathLst>
              <a:path h="1039797" w="2772791">
                <a:moveTo>
                  <a:pt x="0" y="0"/>
                </a:moveTo>
                <a:lnTo>
                  <a:pt x="2772792" y="0"/>
                </a:lnTo>
                <a:lnTo>
                  <a:pt x="2772792" y="1039796"/>
                </a:lnTo>
                <a:lnTo>
                  <a:pt x="0" y="1039796"/>
                </a:lnTo>
                <a:lnTo>
                  <a:pt x="0" y="0"/>
                </a:lnTo>
                <a:close/>
              </a:path>
            </a:pathLst>
          </a:custGeom>
          <a:blipFill>
            <a:blip r:embed="rId3"/>
            <a:stretch>
              <a:fillRect l="0" t="0" r="0" b="0"/>
            </a:stretch>
          </a:blipFill>
        </p:spPr>
      </p:sp>
      <p:sp>
        <p:nvSpPr>
          <p:cNvPr name="Freeform 7" id="7"/>
          <p:cNvSpPr/>
          <p:nvPr/>
        </p:nvSpPr>
        <p:spPr>
          <a:xfrm flipH="false" flipV="false" rot="0">
            <a:off x="10457943" y="3820027"/>
            <a:ext cx="5028941" cy="5438273"/>
          </a:xfrm>
          <a:custGeom>
            <a:avLst/>
            <a:gdLst/>
            <a:ahLst/>
            <a:cxnLst/>
            <a:rect r="r" b="b" t="t" l="l"/>
            <a:pathLst>
              <a:path h="5438273" w="5028941">
                <a:moveTo>
                  <a:pt x="0" y="0"/>
                </a:moveTo>
                <a:lnTo>
                  <a:pt x="5028941" y="0"/>
                </a:lnTo>
                <a:lnTo>
                  <a:pt x="5028941" y="5438273"/>
                </a:lnTo>
                <a:lnTo>
                  <a:pt x="0" y="5438273"/>
                </a:lnTo>
                <a:lnTo>
                  <a:pt x="0" y="0"/>
                </a:lnTo>
                <a:close/>
              </a:path>
            </a:pathLst>
          </a:custGeom>
          <a:blipFill>
            <a:blip r:embed="rId4"/>
            <a:stretch>
              <a:fillRect l="0" t="0" r="0" b="0"/>
            </a:stretch>
          </a:blipFill>
        </p:spPr>
      </p:sp>
      <p:sp>
        <p:nvSpPr>
          <p:cNvPr name="TextBox 8" id="8"/>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JACOCO</a:t>
            </a:r>
          </a:p>
        </p:txBody>
      </p:sp>
      <p:sp>
        <p:nvSpPr>
          <p:cNvPr name="TextBox 9" id="9"/>
          <p:cNvSpPr txBox="true"/>
          <p:nvPr/>
        </p:nvSpPr>
        <p:spPr>
          <a:xfrm rot="0">
            <a:off x="2870597" y="5772857"/>
            <a:ext cx="5295158"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PLUGIN</a:t>
            </a:r>
          </a:p>
          <a:p>
            <a:pPr algn="ctr">
              <a:lnSpc>
                <a:spcPts val="4114"/>
              </a:lnSpc>
              <a:spcBef>
                <a:spcPct val="0"/>
              </a:spcBef>
            </a:pPr>
          </a:p>
        </p:txBody>
      </p:sp>
      <p:sp>
        <p:nvSpPr>
          <p:cNvPr name="Freeform 10" id="10"/>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112787" y="2115917"/>
            <a:ext cx="2612154" cy="955328"/>
          </a:xfrm>
          <a:custGeom>
            <a:avLst/>
            <a:gdLst/>
            <a:ahLst/>
            <a:cxnLst/>
            <a:rect r="r" b="b" t="t" l="l"/>
            <a:pathLst>
              <a:path h="955328" w="2612154">
                <a:moveTo>
                  <a:pt x="0" y="0"/>
                </a:moveTo>
                <a:lnTo>
                  <a:pt x="2612154" y="0"/>
                </a:lnTo>
                <a:lnTo>
                  <a:pt x="2612154" y="955328"/>
                </a:lnTo>
                <a:lnTo>
                  <a:pt x="0" y="955328"/>
                </a:lnTo>
                <a:lnTo>
                  <a:pt x="0" y="0"/>
                </a:lnTo>
                <a:close/>
              </a:path>
            </a:pathLst>
          </a:custGeom>
          <a:blipFill>
            <a:blip r:embed="rId3"/>
            <a:stretch>
              <a:fillRect l="0" t="0" r="0" b="0"/>
            </a:stretch>
          </a:blipFill>
        </p:spPr>
      </p:sp>
      <p:sp>
        <p:nvSpPr>
          <p:cNvPr name="Freeform 7" id="7"/>
          <p:cNvSpPr/>
          <p:nvPr/>
        </p:nvSpPr>
        <p:spPr>
          <a:xfrm flipH="false" flipV="false" rot="0">
            <a:off x="5232061" y="9116665"/>
            <a:ext cx="8876993" cy="940457"/>
          </a:xfrm>
          <a:custGeom>
            <a:avLst/>
            <a:gdLst/>
            <a:ahLst/>
            <a:cxnLst/>
            <a:rect r="r" b="b" t="t" l="l"/>
            <a:pathLst>
              <a:path h="940457" w="8876993">
                <a:moveTo>
                  <a:pt x="0" y="0"/>
                </a:moveTo>
                <a:lnTo>
                  <a:pt x="8876993" y="0"/>
                </a:lnTo>
                <a:lnTo>
                  <a:pt x="8876993" y="940457"/>
                </a:lnTo>
                <a:lnTo>
                  <a:pt x="0" y="940457"/>
                </a:lnTo>
                <a:lnTo>
                  <a:pt x="0" y="0"/>
                </a:lnTo>
                <a:close/>
              </a:path>
            </a:pathLst>
          </a:custGeom>
          <a:blipFill>
            <a:blip r:embed="rId4"/>
            <a:stretch>
              <a:fillRect l="0" t="0" r="0" b="0"/>
            </a:stretch>
          </a:blipFill>
        </p:spPr>
      </p:sp>
      <p:sp>
        <p:nvSpPr>
          <p:cNvPr name="TextBox 8" id="8"/>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SONAR QUBE</a:t>
            </a:r>
          </a:p>
        </p:txBody>
      </p:sp>
      <p:sp>
        <p:nvSpPr>
          <p:cNvPr name="TextBox 9" id="9"/>
          <p:cNvSpPr txBox="true"/>
          <p:nvPr/>
        </p:nvSpPr>
        <p:spPr>
          <a:xfrm rot="0">
            <a:off x="2495138" y="3661889"/>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herramienta de analisis estatico de codigo que ayuda a mantener la calidad del software, analiza: Bugs, Code Smells (malas practicas), Vulnerabilidades de seguridad, Cobertura de pruebas, Duplicacion de Codigo</a:t>
            </a:r>
          </a:p>
        </p:txBody>
      </p:sp>
      <p:sp>
        <p:nvSpPr>
          <p:cNvPr name="TextBox 10" id="10"/>
          <p:cNvSpPr txBox="true"/>
          <p:nvPr/>
        </p:nvSpPr>
        <p:spPr>
          <a:xfrm rot="0">
            <a:off x="4500274" y="6273806"/>
            <a:ext cx="9506186"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Escanea el proyecto (JAVA, JS, Python, etc)</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Genera metricas y las guarda en un servidor</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Muestra un dashboard web con los resultados</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Se integra con CI/CD (Jenkins, Gitlab, github actions, etc)</a:t>
            </a:r>
          </a:p>
        </p:txBody>
      </p:sp>
      <p:sp>
        <p:nvSpPr>
          <p:cNvPr name="TextBox 11" id="11"/>
          <p:cNvSpPr txBox="true"/>
          <p:nvPr/>
        </p:nvSpPr>
        <p:spPr>
          <a:xfrm rot="0">
            <a:off x="4849897" y="5485667"/>
            <a:ext cx="9011167"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¿COMO FUNCIONA?</a:t>
            </a:r>
          </a:p>
          <a:p>
            <a:pPr algn="ctr">
              <a:lnSpc>
                <a:spcPts val="4114"/>
              </a:lnSpc>
              <a:spcBef>
                <a:spcPct val="0"/>
              </a:spcBef>
            </a:pPr>
          </a:p>
        </p:txBody>
      </p:sp>
      <p:sp>
        <p:nvSpPr>
          <p:cNvPr name="TextBox 12" id="12"/>
          <p:cNvSpPr txBox="true"/>
          <p:nvPr/>
        </p:nvSpPr>
        <p:spPr>
          <a:xfrm rot="0">
            <a:off x="2219358" y="8418361"/>
            <a:ext cx="14902400" cy="1034058"/>
          </a:xfrm>
          <a:prstGeom prst="rect">
            <a:avLst/>
          </a:prstGeom>
        </p:spPr>
        <p:txBody>
          <a:bodyPr anchor="t" rtlCol="false" tIns="0" lIns="0" bIns="0" rIns="0">
            <a:spAutoFit/>
          </a:bodyPr>
          <a:lstStyle/>
          <a:p>
            <a:pPr algn="ctr">
              <a:lnSpc>
                <a:spcPts val="4114"/>
              </a:lnSpc>
            </a:pPr>
            <a:r>
              <a:rPr lang="en-US" sz="2939">
                <a:solidFill>
                  <a:srgbClr val="957F3B"/>
                </a:solidFill>
                <a:latin typeface="HK Modular"/>
                <a:ea typeface="HK Modular"/>
                <a:cs typeface="HK Modular"/>
                <a:sym typeface="HK Modular"/>
              </a:rPr>
              <a:t>SE INSTALA SONAR QUBE SERVER LOCAL O EN DOCKER</a:t>
            </a:r>
          </a:p>
          <a:p>
            <a:pPr algn="ctr">
              <a:lnSpc>
                <a:spcPts val="4114"/>
              </a:lnSpc>
              <a:spcBef>
                <a:spcPct val="0"/>
              </a:spcBef>
            </a:pPr>
          </a:p>
        </p:txBody>
      </p:sp>
      <p:sp>
        <p:nvSpPr>
          <p:cNvPr name="Freeform 13" id="13"/>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968119" y="6041104"/>
            <a:ext cx="5957771" cy="3217196"/>
          </a:xfrm>
          <a:custGeom>
            <a:avLst/>
            <a:gdLst/>
            <a:ahLst/>
            <a:cxnLst/>
            <a:rect r="r" b="b" t="t" l="l"/>
            <a:pathLst>
              <a:path h="3217196" w="5957771">
                <a:moveTo>
                  <a:pt x="0" y="0"/>
                </a:moveTo>
                <a:lnTo>
                  <a:pt x="5957771" y="0"/>
                </a:lnTo>
                <a:lnTo>
                  <a:pt x="5957771" y="3217196"/>
                </a:lnTo>
                <a:lnTo>
                  <a:pt x="0" y="3217196"/>
                </a:lnTo>
                <a:lnTo>
                  <a:pt x="0" y="0"/>
                </a:lnTo>
                <a:close/>
              </a:path>
            </a:pathLst>
          </a:custGeom>
          <a:blipFill>
            <a:blip r:embed="rId3"/>
            <a:stretch>
              <a:fillRect l="0" t="0" r="0" b="0"/>
            </a:stretch>
          </a:blipFill>
        </p:spPr>
      </p:sp>
      <p:sp>
        <p:nvSpPr>
          <p:cNvPr name="TextBox 7" id="7"/>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SONAR QUBE</a:t>
            </a:r>
          </a:p>
        </p:txBody>
      </p:sp>
      <p:sp>
        <p:nvSpPr>
          <p:cNvPr name="Freeform 8" id="8"/>
          <p:cNvSpPr/>
          <p:nvPr/>
        </p:nvSpPr>
        <p:spPr>
          <a:xfrm flipH="false" flipV="false" rot="0">
            <a:off x="4112787" y="2115917"/>
            <a:ext cx="2612154" cy="955328"/>
          </a:xfrm>
          <a:custGeom>
            <a:avLst/>
            <a:gdLst/>
            <a:ahLst/>
            <a:cxnLst/>
            <a:rect r="r" b="b" t="t" l="l"/>
            <a:pathLst>
              <a:path h="955328" w="2612154">
                <a:moveTo>
                  <a:pt x="0" y="0"/>
                </a:moveTo>
                <a:lnTo>
                  <a:pt x="2612154" y="0"/>
                </a:lnTo>
                <a:lnTo>
                  <a:pt x="2612154" y="955328"/>
                </a:lnTo>
                <a:lnTo>
                  <a:pt x="0" y="955328"/>
                </a:lnTo>
                <a:lnTo>
                  <a:pt x="0" y="0"/>
                </a:lnTo>
                <a:close/>
              </a:path>
            </a:pathLst>
          </a:custGeom>
          <a:blipFill>
            <a:blip r:embed="rId4"/>
            <a:stretch>
              <a:fillRect l="0" t="0" r="0" b="0"/>
            </a:stretch>
          </a:blipFill>
        </p:spPr>
      </p:sp>
      <p:sp>
        <p:nvSpPr>
          <p:cNvPr name="Freeform 9" id="9"/>
          <p:cNvSpPr/>
          <p:nvPr/>
        </p:nvSpPr>
        <p:spPr>
          <a:xfrm flipH="false" flipV="false" rot="0">
            <a:off x="449790" y="6638967"/>
            <a:ext cx="4769455" cy="1420119"/>
          </a:xfrm>
          <a:custGeom>
            <a:avLst/>
            <a:gdLst/>
            <a:ahLst/>
            <a:cxnLst/>
            <a:rect r="r" b="b" t="t" l="l"/>
            <a:pathLst>
              <a:path h="1420119" w="4769455">
                <a:moveTo>
                  <a:pt x="0" y="0"/>
                </a:moveTo>
                <a:lnTo>
                  <a:pt x="4769455" y="0"/>
                </a:lnTo>
                <a:lnTo>
                  <a:pt x="4769455" y="1420119"/>
                </a:lnTo>
                <a:lnTo>
                  <a:pt x="0" y="1420119"/>
                </a:lnTo>
                <a:lnTo>
                  <a:pt x="0" y="0"/>
                </a:lnTo>
                <a:close/>
              </a:path>
            </a:pathLst>
          </a:custGeom>
          <a:blipFill>
            <a:blip r:embed="rId5"/>
            <a:stretch>
              <a:fillRect l="0" t="0" r="0" b="0"/>
            </a:stretch>
          </a:blipFill>
        </p:spPr>
      </p:sp>
      <p:sp>
        <p:nvSpPr>
          <p:cNvPr name="Freeform 10" id="10"/>
          <p:cNvSpPr/>
          <p:nvPr/>
        </p:nvSpPr>
        <p:spPr>
          <a:xfrm flipH="false" flipV="false" rot="0">
            <a:off x="5911823" y="6752529"/>
            <a:ext cx="5529924" cy="1504865"/>
          </a:xfrm>
          <a:custGeom>
            <a:avLst/>
            <a:gdLst/>
            <a:ahLst/>
            <a:cxnLst/>
            <a:rect r="r" b="b" t="t" l="l"/>
            <a:pathLst>
              <a:path h="1504865" w="5529924">
                <a:moveTo>
                  <a:pt x="0" y="0"/>
                </a:moveTo>
                <a:lnTo>
                  <a:pt x="5529924" y="0"/>
                </a:lnTo>
                <a:lnTo>
                  <a:pt x="5529924" y="1504865"/>
                </a:lnTo>
                <a:lnTo>
                  <a:pt x="0" y="1504865"/>
                </a:lnTo>
                <a:lnTo>
                  <a:pt x="0" y="0"/>
                </a:lnTo>
                <a:close/>
              </a:path>
            </a:pathLst>
          </a:custGeom>
          <a:blipFill>
            <a:blip r:embed="rId6"/>
            <a:stretch>
              <a:fillRect l="0" t="0" r="0" b="0"/>
            </a:stretch>
          </a:blipFill>
        </p:spPr>
      </p:sp>
      <p:sp>
        <p:nvSpPr>
          <p:cNvPr name="TextBox 11" id="11"/>
          <p:cNvSpPr txBox="true"/>
          <p:nvPr/>
        </p:nvSpPr>
        <p:spPr>
          <a:xfrm rot="0">
            <a:off x="1713019" y="4701806"/>
            <a:ext cx="2500598"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PLUGIN</a:t>
            </a:r>
          </a:p>
          <a:p>
            <a:pPr algn="ctr">
              <a:lnSpc>
                <a:spcPts val="4114"/>
              </a:lnSpc>
              <a:spcBef>
                <a:spcPct val="0"/>
              </a:spcBef>
            </a:pPr>
          </a:p>
        </p:txBody>
      </p:sp>
      <p:sp>
        <p:nvSpPr>
          <p:cNvPr name="TextBox 12" id="12"/>
          <p:cNvSpPr txBox="true"/>
          <p:nvPr/>
        </p:nvSpPr>
        <p:spPr>
          <a:xfrm rot="0">
            <a:off x="6895626" y="4806930"/>
            <a:ext cx="3562317"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EJECUCION</a:t>
            </a:r>
          </a:p>
          <a:p>
            <a:pPr algn="ctr">
              <a:lnSpc>
                <a:spcPts val="4114"/>
              </a:lnSpc>
              <a:spcBef>
                <a:spcPct val="0"/>
              </a:spcBef>
            </a:pPr>
          </a:p>
        </p:txBody>
      </p:sp>
      <p:sp>
        <p:nvSpPr>
          <p:cNvPr name="TextBox 13" id="13"/>
          <p:cNvSpPr txBox="true"/>
          <p:nvPr/>
        </p:nvSpPr>
        <p:spPr>
          <a:xfrm rot="0">
            <a:off x="13143993" y="4701806"/>
            <a:ext cx="3562317" cy="1034058"/>
          </a:xfrm>
          <a:prstGeom prst="rect">
            <a:avLst/>
          </a:prstGeom>
        </p:spPr>
        <p:txBody>
          <a:bodyPr anchor="t" rtlCol="false" tIns="0" lIns="0" bIns="0" rIns="0">
            <a:spAutoFit/>
          </a:bodyPr>
          <a:lstStyle/>
          <a:p>
            <a:pPr algn="ctr">
              <a:lnSpc>
                <a:spcPts val="4114"/>
              </a:lnSpc>
            </a:pPr>
            <a:r>
              <a:rPr lang="en-US" sz="2939">
                <a:solidFill>
                  <a:srgbClr val="99C5FF"/>
                </a:solidFill>
                <a:latin typeface="HK Modular"/>
                <a:ea typeface="HK Modular"/>
                <a:cs typeface="HK Modular"/>
                <a:sym typeface="HK Modular"/>
              </a:rPr>
              <a:t>DASHBOARD</a:t>
            </a:r>
          </a:p>
          <a:p>
            <a:pPr algn="ctr">
              <a:lnSpc>
                <a:spcPts val="4114"/>
              </a:lnSpc>
              <a:spcBef>
                <a:spcPct val="0"/>
              </a:spcBef>
            </a:pPr>
          </a:p>
        </p:txBody>
      </p:sp>
      <p:sp>
        <p:nvSpPr>
          <p:cNvPr name="Freeform 14" id="14"/>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7"/>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MOCKS Y STUBS</a:t>
            </a:r>
          </a:p>
        </p:txBody>
      </p:sp>
      <p:sp>
        <p:nvSpPr>
          <p:cNvPr name="Freeform 13" id="13"/>
          <p:cNvSpPr/>
          <p:nvPr/>
        </p:nvSpPr>
        <p:spPr>
          <a:xfrm flipH="false" flipV="false" rot="0">
            <a:off x="7575020" y="0"/>
            <a:ext cx="3528962" cy="3528962"/>
          </a:xfrm>
          <a:custGeom>
            <a:avLst/>
            <a:gdLst/>
            <a:ahLst/>
            <a:cxnLst/>
            <a:rect r="r" b="b" t="t" l="l"/>
            <a:pathLst>
              <a:path h="3528962" w="3528962">
                <a:moveTo>
                  <a:pt x="0" y="0"/>
                </a:moveTo>
                <a:lnTo>
                  <a:pt x="3528962" y="0"/>
                </a:lnTo>
                <a:lnTo>
                  <a:pt x="3528962" y="3528962"/>
                </a:lnTo>
                <a:lnTo>
                  <a:pt x="0" y="3528962"/>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MOCKS</a:t>
            </a:r>
          </a:p>
        </p:txBody>
      </p:sp>
      <p:sp>
        <p:nvSpPr>
          <p:cNvPr name="TextBox 7" id="7"/>
          <p:cNvSpPr txBox="true"/>
          <p:nvPr/>
        </p:nvSpPr>
        <p:spPr>
          <a:xfrm rot="0">
            <a:off x="5723419" y="3677961"/>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¿QUE SON?</a:t>
            </a:r>
          </a:p>
        </p:txBody>
      </p:sp>
      <p:sp>
        <p:nvSpPr>
          <p:cNvPr name="TextBox 8" id="8"/>
          <p:cNvSpPr txBox="true"/>
          <p:nvPr/>
        </p:nvSpPr>
        <p:spPr>
          <a:xfrm rot="0">
            <a:off x="2504364" y="5105400"/>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 objeto que registra las llamadas a sus metodos y valida si ocurrieron las interacciones esperadas, se usan cuando se quiere comprobar como colabora tu objeto con otros componentes, son mas que observadores ya que pueden lanzar excepciones </a:t>
            </a:r>
          </a:p>
        </p:txBody>
      </p:sp>
      <p:sp>
        <p:nvSpPr>
          <p:cNvPr name="TextBox 9" id="9"/>
          <p:cNvSpPr txBox="true"/>
          <p:nvPr/>
        </p:nvSpPr>
        <p:spPr>
          <a:xfrm rot="0">
            <a:off x="2266441" y="7283682"/>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Pueden Verificar que los metodos fueron invocados, en que orden y cuantas veces</a:t>
            </a:r>
          </a:p>
        </p:txBody>
      </p:sp>
      <p:sp>
        <p:nvSpPr>
          <p:cNvPr name="TextBox 10" id="10"/>
          <p:cNvSpPr txBox="true"/>
          <p:nvPr/>
        </p:nvSpPr>
        <p:spPr>
          <a:xfrm rot="0">
            <a:off x="2266441" y="8357251"/>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Ideales para pruebas de comportamientos</a:t>
            </a:r>
          </a:p>
        </p:txBody>
      </p:sp>
      <p:sp>
        <p:nvSpPr>
          <p:cNvPr name="Freeform 11" id="11"/>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3"/>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162710" y="7976858"/>
            <a:ext cx="1496574" cy="1281442"/>
          </a:xfrm>
          <a:custGeom>
            <a:avLst/>
            <a:gdLst/>
            <a:ahLst/>
            <a:cxnLst/>
            <a:rect r="r" b="b" t="t" l="l"/>
            <a:pathLst>
              <a:path h="1281442" w="1496574">
                <a:moveTo>
                  <a:pt x="0" y="0"/>
                </a:moveTo>
                <a:lnTo>
                  <a:pt x="1496574" y="0"/>
                </a:lnTo>
                <a:lnTo>
                  <a:pt x="1496574" y="1281442"/>
                </a:lnTo>
                <a:lnTo>
                  <a:pt x="0" y="1281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22488" y="7746227"/>
            <a:ext cx="1512073" cy="1512073"/>
          </a:xfrm>
          <a:custGeom>
            <a:avLst/>
            <a:gdLst/>
            <a:ahLst/>
            <a:cxnLst/>
            <a:rect r="r" b="b" t="t" l="l"/>
            <a:pathLst>
              <a:path h="1512073" w="1512073">
                <a:moveTo>
                  <a:pt x="0" y="0"/>
                </a:moveTo>
                <a:lnTo>
                  <a:pt x="1512073" y="0"/>
                </a:lnTo>
                <a:lnTo>
                  <a:pt x="1512073" y="1512073"/>
                </a:lnTo>
                <a:lnTo>
                  <a:pt x="0" y="1512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MOCKS</a:t>
            </a:r>
          </a:p>
        </p:txBody>
      </p:sp>
      <p:sp>
        <p:nvSpPr>
          <p:cNvPr name="TextBox 9" id="9"/>
          <p:cNvSpPr txBox="true"/>
          <p:nvPr/>
        </p:nvSpPr>
        <p:spPr>
          <a:xfrm rot="0">
            <a:off x="1621953" y="3568566"/>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VENTAJAS</a:t>
            </a:r>
          </a:p>
        </p:txBody>
      </p:sp>
      <p:sp>
        <p:nvSpPr>
          <p:cNvPr name="TextBox 10" id="10"/>
          <p:cNvSpPr txBox="true"/>
          <p:nvPr/>
        </p:nvSpPr>
        <p:spPr>
          <a:xfrm rot="0">
            <a:off x="1869833" y="4728347"/>
            <a:ext cx="5793637" cy="254758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Validan interacciones entre los componentes</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Detectan efectos colaterales ocultos (no visibles en valores de retorno)</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Aseguran que la colaboracion entre objetos es la esperada</a:t>
            </a:r>
          </a:p>
        </p:txBody>
      </p:sp>
      <p:sp>
        <p:nvSpPr>
          <p:cNvPr name="TextBox 11" id="11"/>
          <p:cNvSpPr txBox="true"/>
          <p:nvPr/>
        </p:nvSpPr>
        <p:spPr>
          <a:xfrm rot="0">
            <a:off x="10457943" y="3568566"/>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DESVENTAJAS</a:t>
            </a:r>
          </a:p>
        </p:txBody>
      </p:sp>
      <p:sp>
        <p:nvSpPr>
          <p:cNvPr name="TextBox 12" id="12"/>
          <p:cNvSpPr txBox="true"/>
          <p:nvPr/>
        </p:nvSpPr>
        <p:spPr>
          <a:xfrm rot="0">
            <a:off x="10981706" y="4728347"/>
            <a:ext cx="5793637"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Su uso excesivo genera test fragiles, acoplados a la implementacion</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Pueden agregar complejidad innecesaria a la suit de pruebas</a:t>
            </a:r>
          </a:p>
        </p:txBody>
      </p:sp>
      <p:sp>
        <p:nvSpPr>
          <p:cNvPr name="Freeform 13" id="13"/>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7"/>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STUBS</a:t>
            </a:r>
          </a:p>
        </p:txBody>
      </p:sp>
      <p:sp>
        <p:nvSpPr>
          <p:cNvPr name="TextBox 7" id="7"/>
          <p:cNvSpPr txBox="true"/>
          <p:nvPr/>
        </p:nvSpPr>
        <p:spPr>
          <a:xfrm rot="0">
            <a:off x="5723419" y="3101683"/>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¿QUE SON?</a:t>
            </a:r>
          </a:p>
        </p:txBody>
      </p:sp>
      <p:sp>
        <p:nvSpPr>
          <p:cNvPr name="TextBox 8" id="8"/>
          <p:cNvSpPr txBox="true"/>
          <p:nvPr/>
        </p:nvSpPr>
        <p:spPr>
          <a:xfrm rot="0">
            <a:off x="2393025" y="4079499"/>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 componente que devuelve respuestas predefinidas durante un prueba, se usan cuando importa mas el comportamiento del objeto bajo prueba que sus interacciones con otros componentes</a:t>
            </a:r>
          </a:p>
        </p:txBody>
      </p:sp>
      <p:sp>
        <p:nvSpPr>
          <p:cNvPr name="TextBox 9" id="9"/>
          <p:cNvSpPr txBox="true"/>
          <p:nvPr/>
        </p:nvSpPr>
        <p:spPr>
          <a:xfrm rot="0">
            <a:off x="2393025" y="5594338"/>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como un actor con guion que simula escenarios ( Transaccion Aprobada/Rechazada)</a:t>
            </a:r>
          </a:p>
        </p:txBody>
      </p:sp>
      <p:sp>
        <p:nvSpPr>
          <p:cNvPr name="TextBox 10" id="10"/>
          <p:cNvSpPr txBox="true"/>
          <p:nvPr/>
        </p:nvSpPr>
        <p:spPr>
          <a:xfrm rot="0">
            <a:off x="2393025" y="6251926"/>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Las respuestas estan preprogramadas (valores fijos), por lo que son predecibles y repetibles</a:t>
            </a:r>
          </a:p>
        </p:txBody>
      </p:sp>
      <p:sp>
        <p:nvSpPr>
          <p:cNvPr name="TextBox 11" id="11"/>
          <p:cNvSpPr txBox="true"/>
          <p:nvPr/>
        </p:nvSpPr>
        <p:spPr>
          <a:xfrm rot="0">
            <a:off x="1351332" y="7094535"/>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VENTAJAS</a:t>
            </a:r>
          </a:p>
        </p:txBody>
      </p:sp>
      <p:sp>
        <p:nvSpPr>
          <p:cNvPr name="TextBox 12" id="12"/>
          <p:cNvSpPr txBox="true"/>
          <p:nvPr/>
        </p:nvSpPr>
        <p:spPr>
          <a:xfrm rot="0">
            <a:off x="10773412" y="6991923"/>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DESVENTAJAS</a:t>
            </a:r>
          </a:p>
        </p:txBody>
      </p:sp>
      <p:sp>
        <p:nvSpPr>
          <p:cNvPr name="TextBox 13" id="13"/>
          <p:cNvSpPr txBox="true"/>
          <p:nvPr/>
        </p:nvSpPr>
        <p:spPr>
          <a:xfrm rot="0">
            <a:off x="1102622" y="7788549"/>
            <a:ext cx="7338583" cy="169033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Aislan la unidad bajo pruebas de dependencias externas, Resultados predecibles y permiten probar la robustez del codigo en diferentes escenarios</a:t>
            </a:r>
          </a:p>
        </p:txBody>
      </p:sp>
      <p:sp>
        <p:nvSpPr>
          <p:cNvPr name="TextBox 14" id="14"/>
          <p:cNvSpPr txBox="true"/>
          <p:nvPr/>
        </p:nvSpPr>
        <p:spPr>
          <a:xfrm rot="0">
            <a:off x="10275991" y="7788549"/>
            <a:ext cx="7338583"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Si no se configuran bien dan una falsa sensacion de correcto, no capturan informacion de interaccion solo resultados</a:t>
            </a:r>
          </a:p>
        </p:txBody>
      </p:sp>
      <p:sp>
        <p:nvSpPr>
          <p:cNvPr name="Freeform 15" id="15"/>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15056" y="5830015"/>
            <a:ext cx="5713809" cy="3428285"/>
          </a:xfrm>
          <a:custGeom>
            <a:avLst/>
            <a:gdLst/>
            <a:ahLst/>
            <a:cxnLst/>
            <a:rect r="r" b="b" t="t" l="l"/>
            <a:pathLst>
              <a:path h="3428285" w="5713809">
                <a:moveTo>
                  <a:pt x="0" y="0"/>
                </a:moveTo>
                <a:lnTo>
                  <a:pt x="5713809" y="0"/>
                </a:lnTo>
                <a:lnTo>
                  <a:pt x="5713809" y="3428285"/>
                </a:lnTo>
                <a:lnTo>
                  <a:pt x="0" y="3428285"/>
                </a:lnTo>
                <a:lnTo>
                  <a:pt x="0" y="0"/>
                </a:lnTo>
                <a:close/>
              </a:path>
            </a:pathLst>
          </a:custGeom>
          <a:blipFill>
            <a:blip r:embed="rId3"/>
            <a:stretch>
              <a:fillRect l="0" t="0" r="0" b="0"/>
            </a:stretch>
          </a:blipFill>
        </p:spPr>
      </p:sp>
      <p:sp>
        <p:nvSpPr>
          <p:cNvPr name="Freeform 7" id="7"/>
          <p:cNvSpPr/>
          <p:nvPr/>
        </p:nvSpPr>
        <p:spPr>
          <a:xfrm flipH="false" flipV="false" rot="0">
            <a:off x="7012217" y="5830015"/>
            <a:ext cx="5120730" cy="3428285"/>
          </a:xfrm>
          <a:custGeom>
            <a:avLst/>
            <a:gdLst/>
            <a:ahLst/>
            <a:cxnLst/>
            <a:rect r="r" b="b" t="t" l="l"/>
            <a:pathLst>
              <a:path h="3428285" w="5120730">
                <a:moveTo>
                  <a:pt x="0" y="0"/>
                </a:moveTo>
                <a:lnTo>
                  <a:pt x="5120730" y="0"/>
                </a:lnTo>
                <a:lnTo>
                  <a:pt x="5120730" y="3428285"/>
                </a:lnTo>
                <a:lnTo>
                  <a:pt x="0" y="3428285"/>
                </a:lnTo>
                <a:lnTo>
                  <a:pt x="0" y="0"/>
                </a:lnTo>
                <a:close/>
              </a:path>
            </a:pathLst>
          </a:custGeom>
          <a:blipFill>
            <a:blip r:embed="rId4"/>
            <a:stretch>
              <a:fillRect l="0" t="0" r="0" b="0"/>
            </a:stretch>
          </a:blipFill>
        </p:spPr>
      </p:sp>
      <p:sp>
        <p:nvSpPr>
          <p:cNvPr name="Freeform 8" id="8"/>
          <p:cNvSpPr/>
          <p:nvPr/>
        </p:nvSpPr>
        <p:spPr>
          <a:xfrm flipH="false" flipV="false" rot="0">
            <a:off x="12913997" y="5830015"/>
            <a:ext cx="4480971" cy="3762503"/>
          </a:xfrm>
          <a:custGeom>
            <a:avLst/>
            <a:gdLst/>
            <a:ahLst/>
            <a:cxnLst/>
            <a:rect r="r" b="b" t="t" l="l"/>
            <a:pathLst>
              <a:path h="3762503" w="4480971">
                <a:moveTo>
                  <a:pt x="0" y="0"/>
                </a:moveTo>
                <a:lnTo>
                  <a:pt x="4480971" y="0"/>
                </a:lnTo>
                <a:lnTo>
                  <a:pt x="4480971" y="3762502"/>
                </a:lnTo>
                <a:lnTo>
                  <a:pt x="0" y="3762502"/>
                </a:lnTo>
                <a:lnTo>
                  <a:pt x="0" y="0"/>
                </a:lnTo>
                <a:close/>
              </a:path>
            </a:pathLst>
          </a:custGeom>
          <a:blipFill>
            <a:blip r:embed="rId5"/>
            <a:stretch>
              <a:fillRect l="0" t="0" r="0" b="0"/>
            </a:stretch>
          </a:blipFill>
        </p:spPr>
      </p:sp>
      <p:sp>
        <p:nvSpPr>
          <p:cNvPr name="TextBox 9" id="9"/>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MOCKS Y STUBS USO CON MOCKITO</a:t>
            </a:r>
          </a:p>
        </p:txBody>
      </p:sp>
      <p:sp>
        <p:nvSpPr>
          <p:cNvPr name="TextBox 10" id="10"/>
          <p:cNvSpPr txBox="true"/>
          <p:nvPr/>
        </p:nvSpPr>
        <p:spPr>
          <a:xfrm rot="0">
            <a:off x="1284815" y="4407531"/>
            <a:ext cx="4174290"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CODIGO BASE</a:t>
            </a:r>
          </a:p>
        </p:txBody>
      </p:sp>
      <p:sp>
        <p:nvSpPr>
          <p:cNvPr name="TextBox 11" id="11"/>
          <p:cNvSpPr txBox="true"/>
          <p:nvPr/>
        </p:nvSpPr>
        <p:spPr>
          <a:xfrm rot="0">
            <a:off x="7359511" y="4407531"/>
            <a:ext cx="4174290" cy="1034058"/>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PRUEBA CON STUB</a:t>
            </a:r>
          </a:p>
        </p:txBody>
      </p:sp>
      <p:sp>
        <p:nvSpPr>
          <p:cNvPr name="TextBox 12" id="12"/>
          <p:cNvSpPr txBox="true"/>
          <p:nvPr/>
        </p:nvSpPr>
        <p:spPr>
          <a:xfrm rot="0">
            <a:off x="13067337" y="4407531"/>
            <a:ext cx="4174290" cy="1034058"/>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PRUEBA CON MOCK</a:t>
            </a:r>
          </a:p>
        </p:txBody>
      </p:sp>
      <p:sp>
        <p:nvSpPr>
          <p:cNvPr name="Freeform 13" id="13"/>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6"/>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BUENAS PRACTICAS</a:t>
            </a:r>
          </a:p>
        </p:txBody>
      </p:sp>
      <p:sp>
        <p:nvSpPr>
          <p:cNvPr name="TextBox 7" id="7"/>
          <p:cNvSpPr txBox="true"/>
          <p:nvPr/>
        </p:nvSpPr>
        <p:spPr>
          <a:xfrm rot="0">
            <a:off x="2393025" y="4079499"/>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Equilibrar Stubs y Mocks, no usen solamente uno siempre</a:t>
            </a:r>
          </a:p>
        </p:txBody>
      </p:sp>
      <p:sp>
        <p:nvSpPr>
          <p:cNvPr name="TextBox 8" id="8"/>
          <p:cNvSpPr txBox="true"/>
          <p:nvPr/>
        </p:nvSpPr>
        <p:spPr>
          <a:xfrm rot="0">
            <a:off x="2393025" y="4922221"/>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Usar Stubs cuando lo importante son los resultados (state testing)</a:t>
            </a:r>
          </a:p>
        </p:txBody>
      </p:sp>
      <p:sp>
        <p:nvSpPr>
          <p:cNvPr name="TextBox 9" id="9"/>
          <p:cNvSpPr txBox="true"/>
          <p:nvPr/>
        </p:nvSpPr>
        <p:spPr>
          <a:xfrm rot="0">
            <a:off x="2393025" y="5764829"/>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Usar Mocks cuando lo importante son las interacciones (behavior testing)</a:t>
            </a:r>
          </a:p>
        </p:txBody>
      </p:sp>
      <p:sp>
        <p:nvSpPr>
          <p:cNvPr name="Freeform 10" id="10"/>
          <p:cNvSpPr/>
          <p:nvPr/>
        </p:nvSpPr>
        <p:spPr>
          <a:xfrm flipH="false" flipV="false" rot="0">
            <a:off x="4052946" y="4035016"/>
            <a:ext cx="620758" cy="531524"/>
          </a:xfrm>
          <a:custGeom>
            <a:avLst/>
            <a:gdLst/>
            <a:ahLst/>
            <a:cxnLst/>
            <a:rect r="r" b="b" t="t" l="l"/>
            <a:pathLst>
              <a:path h="531524" w="620758">
                <a:moveTo>
                  <a:pt x="0" y="0"/>
                </a:moveTo>
                <a:lnTo>
                  <a:pt x="620758" y="0"/>
                </a:lnTo>
                <a:lnTo>
                  <a:pt x="620758" y="531525"/>
                </a:lnTo>
                <a:lnTo>
                  <a:pt x="0" y="531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3432187" y="4877682"/>
            <a:ext cx="620758" cy="531524"/>
          </a:xfrm>
          <a:custGeom>
            <a:avLst/>
            <a:gdLst/>
            <a:ahLst/>
            <a:cxnLst/>
            <a:rect r="r" b="b" t="t" l="l"/>
            <a:pathLst>
              <a:path h="531524" w="620758">
                <a:moveTo>
                  <a:pt x="0" y="0"/>
                </a:moveTo>
                <a:lnTo>
                  <a:pt x="620759" y="0"/>
                </a:lnTo>
                <a:lnTo>
                  <a:pt x="620759"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973067" y="5720347"/>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393025" y="6690021"/>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Evitar tests demasiado especificos (se vuelven fragiles ante pequeños cambios)</a:t>
            </a:r>
          </a:p>
        </p:txBody>
      </p:sp>
      <p:sp>
        <p:nvSpPr>
          <p:cNvPr name="TextBox 14" id="14"/>
          <p:cNvSpPr txBox="true"/>
          <p:nvPr/>
        </p:nvSpPr>
        <p:spPr>
          <a:xfrm rot="0">
            <a:off x="2393025" y="7781187"/>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Mantener los test claros, simples y legibles</a:t>
            </a:r>
          </a:p>
        </p:txBody>
      </p:sp>
      <p:sp>
        <p:nvSpPr>
          <p:cNvPr name="Freeform 15" id="15"/>
          <p:cNvSpPr/>
          <p:nvPr/>
        </p:nvSpPr>
        <p:spPr>
          <a:xfrm flipH="false" flipV="false" rot="0">
            <a:off x="2662688" y="6562956"/>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5314141" y="7736704"/>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2545425" y="8620653"/>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En TDD permiten probar antes de tener implementaciones reales</a:t>
            </a:r>
          </a:p>
        </p:txBody>
      </p:sp>
      <p:sp>
        <p:nvSpPr>
          <p:cNvPr name="Freeform 18" id="18"/>
          <p:cNvSpPr/>
          <p:nvPr/>
        </p:nvSpPr>
        <p:spPr>
          <a:xfrm flipH="false" flipV="false" rot="0">
            <a:off x="3742567" y="8493588"/>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50676" y="1827357"/>
            <a:ext cx="15377649" cy="1101873"/>
          </a:xfrm>
          <a:prstGeom prst="rect">
            <a:avLst/>
          </a:prstGeom>
        </p:spPr>
        <p:txBody>
          <a:bodyPr anchor="t" rtlCol="false" tIns="0" lIns="0" bIns="0" rIns="0">
            <a:spAutoFit/>
          </a:bodyPr>
          <a:lstStyle/>
          <a:p>
            <a:pPr algn="ctr">
              <a:lnSpc>
                <a:spcPts val="8941"/>
              </a:lnSpc>
              <a:spcBef>
                <a:spcPct val="0"/>
              </a:spcBef>
            </a:pPr>
            <a:r>
              <a:rPr lang="en-US" sz="6387">
                <a:solidFill>
                  <a:srgbClr val="957F3B"/>
                </a:solidFill>
                <a:latin typeface="HK Modular"/>
                <a:ea typeface="HK Modular"/>
                <a:cs typeface="HK Modular"/>
                <a:sym typeface="HK Modular"/>
              </a:rPr>
              <a:t>ES HORA DE PREPARARSE</a:t>
            </a:r>
          </a:p>
        </p:txBody>
      </p:sp>
      <p:sp>
        <p:nvSpPr>
          <p:cNvPr name="TextBox 13" id="13"/>
          <p:cNvSpPr txBox="true"/>
          <p:nvPr/>
        </p:nvSpPr>
        <p:spPr>
          <a:xfrm rot="0">
            <a:off x="1280756" y="8640688"/>
            <a:ext cx="15460467" cy="1101873"/>
          </a:xfrm>
          <a:prstGeom prst="rect">
            <a:avLst/>
          </a:prstGeom>
        </p:spPr>
        <p:txBody>
          <a:bodyPr anchor="t" rtlCol="false" tIns="0" lIns="0" bIns="0" rIns="0">
            <a:spAutoFit/>
          </a:bodyPr>
          <a:lstStyle/>
          <a:p>
            <a:pPr algn="ctr">
              <a:lnSpc>
                <a:spcPts val="8941"/>
              </a:lnSpc>
              <a:spcBef>
                <a:spcPct val="0"/>
              </a:spcBef>
            </a:pPr>
            <a:r>
              <a:rPr lang="en-US" sz="6387">
                <a:solidFill>
                  <a:srgbClr val="99B9FF"/>
                </a:solidFill>
                <a:latin typeface="HK Modular"/>
                <a:ea typeface="HK Modular"/>
                <a:cs typeface="HK Modular"/>
                <a:sym typeface="HK Modular"/>
              </a:rPr>
              <a:t>PARA EL PARCIAL</a:t>
            </a:r>
          </a:p>
        </p:txBody>
      </p:sp>
      <p:sp>
        <p:nvSpPr>
          <p:cNvPr name="Freeform 14" id="14"/>
          <p:cNvSpPr/>
          <p:nvPr/>
        </p:nvSpPr>
        <p:spPr>
          <a:xfrm flipH="false" flipV="false" rot="0">
            <a:off x="5944702" y="3338928"/>
            <a:ext cx="6132576" cy="4578430"/>
          </a:xfrm>
          <a:custGeom>
            <a:avLst/>
            <a:gdLst/>
            <a:ahLst/>
            <a:cxnLst/>
            <a:rect r="r" b="b" t="t" l="l"/>
            <a:pathLst>
              <a:path h="4578430" w="6132576">
                <a:moveTo>
                  <a:pt x="0" y="0"/>
                </a:moveTo>
                <a:lnTo>
                  <a:pt x="6132576" y="0"/>
                </a:lnTo>
                <a:lnTo>
                  <a:pt x="6132576" y="4578430"/>
                </a:lnTo>
                <a:lnTo>
                  <a:pt x="0" y="4578430"/>
                </a:lnTo>
                <a:lnTo>
                  <a:pt x="0" y="0"/>
                </a:lnTo>
                <a:close/>
              </a:path>
            </a:pathLst>
          </a:custGeom>
          <a:blipFill>
            <a:blip r:embed="rId3"/>
            <a:stretch>
              <a:fillRect l="0" t="0" r="0" b="0"/>
            </a:stretch>
          </a:blipFill>
        </p:spPr>
      </p:sp>
      <p:sp>
        <p:nvSpPr>
          <p:cNvPr name="Freeform 15" id="15"/>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4"/>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58803" y="3915536"/>
            <a:ext cx="14763858" cy="134226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Poppins"/>
                <a:ea typeface="Poppins"/>
                <a:cs typeface="Poppins"/>
                <a:sym typeface="Poppins"/>
              </a:rPr>
              <a:t>ESTUDIEN TODO LO TEORICO VISTO DESDE LA SEMANA 1 HASTA SEMANA 5</a:t>
            </a:r>
          </a:p>
        </p:txBody>
      </p:sp>
      <p:sp>
        <p:nvSpPr>
          <p:cNvPr name="TextBox 13" id="13"/>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RECOMENDACIONES</a:t>
            </a:r>
          </a:p>
        </p:txBody>
      </p:sp>
      <p:sp>
        <p:nvSpPr>
          <p:cNvPr name="TextBox 14" id="14"/>
          <p:cNvSpPr txBox="true"/>
          <p:nvPr/>
        </p:nvSpPr>
        <p:spPr>
          <a:xfrm rot="0">
            <a:off x="1762071" y="5531598"/>
            <a:ext cx="14763858" cy="134226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Poppins"/>
                <a:ea typeface="Poppins"/>
                <a:cs typeface="Poppins"/>
                <a:sym typeface="Poppins"/>
              </a:rPr>
              <a:t>PARA LA PARTE PRACTICA - ESTUDIEN MUY BIEN LA IMPLEMENTACION DE PATRONES DE DISEÑO</a:t>
            </a:r>
          </a:p>
        </p:txBody>
      </p:sp>
      <p:sp>
        <p:nvSpPr>
          <p:cNvPr name="TextBox 15" id="15"/>
          <p:cNvSpPr txBox="true"/>
          <p:nvPr/>
        </p:nvSpPr>
        <p:spPr>
          <a:xfrm rot="0">
            <a:off x="1762071" y="7400187"/>
            <a:ext cx="14763858" cy="134226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Poppins"/>
                <a:ea typeface="Poppins"/>
                <a:cs typeface="Poppins"/>
                <a:sym typeface="Poppins"/>
              </a:rPr>
              <a:t>CONFIEN EN EL TRABAJO QUE HAN HECHO DURANTE EL CORTE</a:t>
            </a:r>
          </a:p>
        </p:txBody>
      </p:sp>
      <p:sp>
        <p:nvSpPr>
          <p:cNvPr name="Freeform 16" id="16"/>
          <p:cNvSpPr/>
          <p:nvPr/>
        </p:nvSpPr>
        <p:spPr>
          <a:xfrm flipH="false" flipV="false" rot="0">
            <a:off x="8040047" y="-189199"/>
            <a:ext cx="2435798" cy="2435798"/>
          </a:xfrm>
          <a:custGeom>
            <a:avLst/>
            <a:gdLst/>
            <a:ahLst/>
            <a:cxnLst/>
            <a:rect r="r" b="b" t="t" l="l"/>
            <a:pathLst>
              <a:path h="2435798" w="2435798">
                <a:moveTo>
                  <a:pt x="0" y="0"/>
                </a:moveTo>
                <a:lnTo>
                  <a:pt x="2435798" y="0"/>
                </a:lnTo>
                <a:lnTo>
                  <a:pt x="2435798" y="2435798"/>
                </a:lnTo>
                <a:lnTo>
                  <a:pt x="0" y="2435798"/>
                </a:lnTo>
                <a:lnTo>
                  <a:pt x="0" y="0"/>
                </a:lnTo>
                <a:close/>
              </a:path>
            </a:pathLst>
          </a:custGeom>
          <a:blipFill>
            <a:blip r:embed="rId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9704889" y="5774711"/>
            <a:ext cx="6605880" cy="790052"/>
          </a:xfrm>
          <a:prstGeom prst="rect">
            <a:avLst/>
          </a:prstGeom>
        </p:spPr>
        <p:txBody>
          <a:bodyPr anchor="t" rtlCol="false" tIns="0" lIns="0" bIns="0" rIns="0">
            <a:spAutoFit/>
          </a:bodyPr>
          <a:lstStyle/>
          <a:p>
            <a:pPr algn="ctr">
              <a:lnSpc>
                <a:spcPts val="6476"/>
              </a:lnSpc>
              <a:spcBef>
                <a:spcPct val="0"/>
              </a:spcBef>
            </a:pPr>
            <a:r>
              <a:rPr lang="en-US" sz="4626">
                <a:solidFill>
                  <a:srgbClr val="957F3B"/>
                </a:solidFill>
                <a:latin typeface="HK Modular"/>
                <a:ea typeface="HK Modular"/>
                <a:cs typeface="HK Modular"/>
                <a:sym typeface="HK Modular"/>
              </a:rPr>
              <a:t>EL PARCIAL</a:t>
            </a:r>
          </a:p>
        </p:txBody>
      </p:sp>
      <p:sp>
        <p:nvSpPr>
          <p:cNvPr name="TextBox 13" id="13"/>
          <p:cNvSpPr txBox="true"/>
          <p:nvPr/>
        </p:nvSpPr>
        <p:spPr>
          <a:xfrm rot="0">
            <a:off x="8376435" y="4467874"/>
            <a:ext cx="9676425"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NOS VEMOS EN </a:t>
            </a:r>
          </a:p>
        </p:txBody>
      </p:sp>
      <p:sp>
        <p:nvSpPr>
          <p:cNvPr name="Freeform 14" id="14"/>
          <p:cNvSpPr/>
          <p:nvPr/>
        </p:nvSpPr>
        <p:spPr>
          <a:xfrm flipH="false" flipV="false" rot="0">
            <a:off x="1389652" y="1977426"/>
            <a:ext cx="6203109" cy="7766020"/>
          </a:xfrm>
          <a:custGeom>
            <a:avLst/>
            <a:gdLst/>
            <a:ahLst/>
            <a:cxnLst/>
            <a:rect r="r" b="b" t="t" l="l"/>
            <a:pathLst>
              <a:path h="7766020" w="6203109">
                <a:moveTo>
                  <a:pt x="0" y="0"/>
                </a:moveTo>
                <a:lnTo>
                  <a:pt x="6203108" y="0"/>
                </a:lnTo>
                <a:lnTo>
                  <a:pt x="6203108" y="7766020"/>
                </a:lnTo>
                <a:lnTo>
                  <a:pt x="0" y="7766020"/>
                </a:lnTo>
                <a:lnTo>
                  <a:pt x="0" y="0"/>
                </a:lnTo>
                <a:close/>
              </a:path>
            </a:pathLst>
          </a:custGeom>
          <a:blipFill>
            <a:blip r:embed="rId3"/>
            <a:stretch>
              <a:fillRect l="0" t="0" r="0" b="0"/>
            </a:stretch>
          </a:blipFill>
        </p:spPr>
      </p:sp>
      <p:sp>
        <p:nvSpPr>
          <p:cNvPr name="Freeform 15" id="15"/>
          <p:cNvSpPr/>
          <p:nvPr/>
        </p:nvSpPr>
        <p:spPr>
          <a:xfrm flipH="false" flipV="false" rot="0">
            <a:off x="10581719" y="-133966"/>
            <a:ext cx="4852220" cy="4852220"/>
          </a:xfrm>
          <a:custGeom>
            <a:avLst/>
            <a:gdLst/>
            <a:ahLst/>
            <a:cxnLst/>
            <a:rect r="r" b="b" t="t" l="l"/>
            <a:pathLst>
              <a:path h="4852220" w="4852220">
                <a:moveTo>
                  <a:pt x="0" y="0"/>
                </a:moveTo>
                <a:lnTo>
                  <a:pt x="4852219" y="0"/>
                </a:lnTo>
                <a:lnTo>
                  <a:pt x="4852219" y="4852219"/>
                </a:lnTo>
                <a:lnTo>
                  <a:pt x="0" y="4852219"/>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DAGw7z0mT8o</dc:identifier>
  <dcterms:modified xsi:type="dcterms:W3CDTF">2011-08-01T06:04:30Z</dcterms:modified>
  <cp:revision>1</cp:revision>
  <dc:title>DOSW 2 - S06</dc:title>
</cp:coreProperties>
</file>